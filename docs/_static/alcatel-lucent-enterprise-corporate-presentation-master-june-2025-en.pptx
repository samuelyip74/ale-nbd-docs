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</p:sldMasterIdLst>
  <p:notesMasterIdLst>
    <p:notesMasterId r:id="rId23"/>
  </p:notesMasterIdLst>
  <p:handoutMasterIdLst>
    <p:handoutMasterId r:id="rId24"/>
  </p:handoutMasterIdLst>
  <p:sldIdLst>
    <p:sldId id="2691" r:id="rId5"/>
    <p:sldId id="2147481019" r:id="rId6"/>
    <p:sldId id="2147481023" r:id="rId7"/>
    <p:sldId id="2147481000" r:id="rId8"/>
    <p:sldId id="2147481033" r:id="rId9"/>
    <p:sldId id="2147481016" r:id="rId10"/>
    <p:sldId id="2635" r:id="rId11"/>
    <p:sldId id="2147481032" r:id="rId12"/>
    <p:sldId id="2147481006" r:id="rId13"/>
    <p:sldId id="2679" r:id="rId14"/>
    <p:sldId id="2147481007" r:id="rId15"/>
    <p:sldId id="333" r:id="rId16"/>
    <p:sldId id="2147480998" r:id="rId17"/>
    <p:sldId id="2147481027" r:id="rId18"/>
    <p:sldId id="2147481008" r:id="rId19"/>
    <p:sldId id="2147481031" r:id="rId20"/>
    <p:sldId id="2147481002" r:id="rId21"/>
    <p:sldId id="2147481003" r:id="rId22"/>
  </p:sldIdLst>
  <p:sldSz cx="9144000" cy="5143500" type="screen16x9"/>
  <p:notesSz cx="6858000" cy="9144000"/>
  <p:defaultTextStyle>
    <a:defPPr>
      <a:defRPr lang="it-IT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7B5EC8-7173-B7FC-87B9-D72F196F788A}" name="Collins Maire" initials="CM" userId="S::maire.collins@al-enterprise.com::db49390e-58e1-4737-b787-989dae56ae5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rel Nicolas" initials="MN" lastIdx="1" clrIdx="0">
    <p:extLst>
      <p:ext uri="{19B8F6BF-5375-455C-9EA6-DF929625EA0E}">
        <p15:presenceInfo xmlns:p15="http://schemas.microsoft.com/office/powerpoint/2012/main" userId="S::nicolas.morel@al-enterprise.com::dbe83850-4b81-4772-9f9a-f6c5f43cc689" providerId="AD"/>
      </p:ext>
    </p:extLst>
  </p:cmAuthor>
  <p:cmAuthor id="2" name="Williams Elizabeth" initials="WE" lastIdx="36" clrIdx="1">
    <p:extLst>
      <p:ext uri="{19B8F6BF-5375-455C-9EA6-DF929625EA0E}">
        <p15:presenceInfo xmlns:p15="http://schemas.microsoft.com/office/powerpoint/2012/main" userId="S-1-5-21-2401775328-4192362438-2854326413-47989" providerId="AD"/>
      </p:ext>
    </p:extLst>
  </p:cmAuthor>
  <p:cmAuthor id="3" name="Collins Maire" initials="CM" lastIdx="1" clrIdx="2">
    <p:extLst>
      <p:ext uri="{19B8F6BF-5375-455C-9EA6-DF929625EA0E}">
        <p15:presenceInfo xmlns:p15="http://schemas.microsoft.com/office/powerpoint/2012/main" userId="S::maire.collins@al-enterprise.com::db49390e-58e1-4737-b787-989dae56ae5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70"/>
    <a:srgbClr val="0085CA"/>
    <a:srgbClr val="6B489D"/>
    <a:srgbClr val="34B233"/>
    <a:srgbClr val="FF4500"/>
    <a:srgbClr val="CF0072"/>
    <a:srgbClr val="4D2C7B"/>
    <a:srgbClr val="6B349D"/>
    <a:srgbClr val="51317E"/>
    <a:srgbClr val="523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57" autoAdjust="0"/>
    <p:restoredTop sz="95176" autoAdjust="0"/>
  </p:normalViewPr>
  <p:slideViewPr>
    <p:cSldViewPr snapToGrid="0">
      <p:cViewPr varScale="1">
        <p:scale>
          <a:sx n="83" d="100"/>
          <a:sy n="83" d="100"/>
        </p:scale>
        <p:origin x="1072" y="52"/>
      </p:cViewPr>
      <p:guideLst/>
    </p:cSldViewPr>
  </p:slideViewPr>
  <p:outlineViewPr>
    <p:cViewPr>
      <p:scale>
        <a:sx n="33" d="100"/>
        <a:sy n="33" d="100"/>
      </p:scale>
      <p:origin x="0" y="-2761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872"/>
    </p:cViewPr>
  </p:sorterViewPr>
  <p:notesViewPr>
    <p:cSldViewPr snapToGrid="0">
      <p:cViewPr>
        <p:scale>
          <a:sx n="141" d="100"/>
          <a:sy n="141" d="100"/>
        </p:scale>
        <p:origin x="744" y="-26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B512A8-F47B-5537-0DA6-FF87B0BB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>
              <a:latin typeface="Trebuchet MS" panose="020B070302020209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0DECD-E107-7692-4B1F-47D6D52A31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019B4-1E6F-B944-AB7E-7B78E14A7370}" type="datetimeFigureOut">
              <a:rPr lang="en-DE" smtClean="0">
                <a:latin typeface="Trebuchet MS" panose="020B0703020202090204" pitchFamily="34" charset="0"/>
              </a:rPr>
              <a:t>06/10/2025</a:t>
            </a:fld>
            <a:endParaRPr lang="en-DE">
              <a:latin typeface="Trebuchet MS" panose="020B070302020209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21268-D20F-1310-1E3F-FDB7BA3E24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>
              <a:latin typeface="Trebuchet MS" panose="020B070302020209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E1C9B-C831-C708-61D7-B8CBD74D57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B1CB2-6D69-8F4D-9CD8-08B30B8F5D7E}" type="slidenum">
              <a:rPr lang="en-DE" smtClean="0">
                <a:latin typeface="Trebuchet MS" panose="020B0703020202090204" pitchFamily="34" charset="0"/>
              </a:rPr>
              <a:t>‹N°›</a:t>
            </a:fld>
            <a:endParaRPr lang="en-DE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44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rebuchet MS" panose="020B070302020209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rebuchet MS" panose="020B0703020202090204" pitchFamily="34" charset="0"/>
              </a:defRPr>
            </a:lvl1pPr>
          </a:lstStyle>
          <a:p>
            <a:fld id="{C358433C-7807-BB4B-B5B9-488619E768BF}" type="datetimeFigureOut">
              <a:rPr lang="en-GB" smtClean="0"/>
              <a:pPr/>
              <a:t>10/06/2025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rebuchet MS" panose="020B070302020209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rebuchet MS" panose="020B0703020202090204" pitchFamily="34" charset="0"/>
              </a:defRPr>
            </a:lvl1pPr>
          </a:lstStyle>
          <a:p>
            <a:fld id="{4E801354-FB34-E34D-B6E0-B44A29095DE7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2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60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Espace réservé des notes 5">
            <a:extLst>
              <a:ext uri="{FF2B5EF4-FFF2-40B4-BE49-F238E27FC236}">
                <a16:creationId xmlns:a16="http://schemas.microsoft.com/office/drawing/2014/main" id="{EBC6E916-4777-08F0-CC2B-CD86A6990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41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04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Our ESG strategy is driven by our customers' expectations, regulatory requirements (notably the European Green Deal), and our responsibility as a company. 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We conducted an in-depth analysis of our impacts, which enabled us to identify eight priority areas on which to focus our efforts. Our ambition is to contribute to a more resilient world, for individuals and businesses alike, through technology, embodying our vision of "Technology for Good." </a:t>
            </a:r>
          </a:p>
          <a:p>
            <a:endParaRPr lang="en-US" b="0" i="0" dirty="0">
              <a:solidFill>
                <a:schemeClr val="tx2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To achieve this goal, we must: 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Transform ourselves to reduce the negative impacts (particularly environmental) of our solutions: 			</a:t>
            </a:r>
          </a:p>
          <a:p>
            <a:pPr marL="628650" lvl="1" indent="-171450">
              <a:buFontTx/>
              <a:buChar char="-"/>
            </a:pPr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For example, our ambitious greenhouse gas reduction targets are aligned with the 1.5°C trajectory set by the Science-Based Targets initiative (SBTi), a leading authority in the field. </a:t>
            </a:r>
            <a:endParaRPr lang="en-US" dirty="0">
              <a:solidFill>
                <a:schemeClr val="tx2"/>
              </a:solidFill>
              <a:latin typeface="Open Sans" panose="020B0606030504020204" pitchFamily="34" charset="0"/>
            </a:endParaRPr>
          </a:p>
          <a:p>
            <a:pPr marL="628650" lvl="1" indent="-171450">
              <a:buFontTx/>
              <a:buChar char="-"/>
            </a:pPr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Our progress is assessed annually by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EcoVadis</a:t>
            </a:r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 to ensure adherence to ESG best practices and identify necessary areas for improvement. </a:t>
            </a:r>
          </a:p>
          <a:p>
            <a:pPr marL="628650" lvl="1" indent="-171450">
              <a:buFontTx/>
              <a:buChar char="-"/>
            </a:pPr>
            <a:endParaRPr lang="en-US" b="0" i="0" dirty="0">
              <a:solidFill>
                <a:schemeClr val="tx2"/>
              </a:solidFill>
              <a:effectLst/>
              <a:latin typeface="Open Sans" panose="020B0606030504020204" pitchFamily="34" charset="0"/>
            </a:endParaRP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Develop services based on our technologies to support our customers in building their own resilience.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657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Espace réservé de l'image des diapositives 1">
            <a:extLst>
              <a:ext uri="{FF2B5EF4-FFF2-40B4-BE49-F238E27FC236}">
                <a16:creationId xmlns:a16="http://schemas.microsoft.com/office/drawing/2014/main" id="{AF223A56-0963-9E64-794D-14B81EF626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2" name="Espace réservé des notes 2">
            <a:extLst>
              <a:ext uri="{FF2B5EF4-FFF2-40B4-BE49-F238E27FC236}">
                <a16:creationId xmlns:a16="http://schemas.microsoft.com/office/drawing/2014/main" id="{BBCF8578-0154-0AD6-2E8F-1C539C295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en-FR" dirty="0"/>
          </a:p>
        </p:txBody>
      </p:sp>
      <p:sp>
        <p:nvSpPr>
          <p:cNvPr id="87043" name="Espace réservé du numéro de diapositive 3">
            <a:extLst>
              <a:ext uri="{FF2B5EF4-FFF2-40B4-BE49-F238E27FC236}">
                <a16:creationId xmlns:a16="http://schemas.microsoft.com/office/drawing/2014/main" id="{7B6A049A-B897-FBC2-ED57-76EDAD45E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98500"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698500"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698500"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698500"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698500"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6985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6985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6985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6985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marL="0" marR="0" lvl="0" indent="0" algn="r" defTabSz="698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38E35D-DE60-0B4E-A492-D0A7DE0FD090}" type="slidenum">
              <a:rPr kumimoji="0" lang="en-GB" altLang="en-FR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98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FR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756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091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05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175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496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426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99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83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638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3752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01354-FB34-E34D-B6E0-B44A29095DE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308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750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01354-FB34-E34D-B6E0-B44A29095DE7}" type="slidenum">
              <a:rPr kumimoji="0" lang="en-GB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917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69B721-3963-D444-8AD8-BE23C9FD93EA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55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facebook.com/ALUEnterprise" TargetMode="External"/><Relationship Id="rId7" Type="http://schemas.openxmlformats.org/officeDocument/2006/relationships/hyperlink" Target="https://www.instagram.com/alcatel_lucent_enterprise/" TargetMode="External"/><Relationship Id="rId2" Type="http://schemas.openxmlformats.org/officeDocument/2006/relationships/hyperlink" Target="https://www.al-enterprise.com/en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hyperlink" Target="https://www.linkedin.com/company/alcatellucententerprise/" TargetMode="Externa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hyperlink" Target="https://www.youtube.com/user/EnterpriseALU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+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wavy background&#10;&#10;Description automatically generated with medium confidence">
            <a:extLst>
              <a:ext uri="{FF2B5EF4-FFF2-40B4-BE49-F238E27FC236}">
                <a16:creationId xmlns:a16="http://schemas.microsoft.com/office/drawing/2014/main" id="{839BFADE-B94A-0E14-4440-1F5F4BBB85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61876C46-D2EB-6D60-4894-3DA15CCB1C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5062" y="66749"/>
            <a:ext cx="1874862" cy="71697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30F5F93-10FF-E2B7-B88E-61626BF2D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121" y="783721"/>
            <a:ext cx="8327757" cy="138499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5000" b="0" i="0" cap="none" baseline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70F31-92A4-3D2E-A881-3303189128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121" y="4443787"/>
            <a:ext cx="23279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  <a:lvl2pPr marL="342888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685776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028664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371552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EFEC4-6A92-9FCC-5CB8-619CEF48E438}"/>
              </a:ext>
            </a:extLst>
          </p:cNvPr>
          <p:cNvSpPr txBox="1"/>
          <p:nvPr userDrawn="1"/>
        </p:nvSpPr>
        <p:spPr>
          <a:xfrm>
            <a:off x="408121" y="2313441"/>
            <a:ext cx="3740728" cy="20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Where Everything Connects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5DD3BE-FDBD-FC4D-20B5-AF735841C5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21" y="4640919"/>
            <a:ext cx="23279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  <a:lvl2pPr marL="342888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685776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028664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371552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00 Month 0000</a:t>
            </a:r>
          </a:p>
        </p:txBody>
      </p:sp>
    </p:spTree>
    <p:extLst>
      <p:ext uri="{BB962C8B-B14F-4D97-AF65-F5344CB8AC3E}">
        <p14:creationId xmlns:p14="http://schemas.microsoft.com/office/powerpoint/2010/main" val="660112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6" userDrawn="1">
          <p15:clr>
            <a:srgbClr val="FBAE40"/>
          </p15:clr>
        </p15:guide>
        <p15:guide id="2" pos="2880">
          <p15:clr>
            <a:srgbClr val="FBAE40"/>
          </p15:clr>
        </p15:guide>
        <p15:guide id="4" orient="horz" pos="1452" userDrawn="1">
          <p15:clr>
            <a:srgbClr val="FBAE40"/>
          </p15:clr>
        </p15:guide>
        <p15:guide id="5" orient="horz" pos="27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ara + 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liquid flowing in the air&#10;&#10;Description automatically generated">
            <a:extLst>
              <a:ext uri="{FF2B5EF4-FFF2-40B4-BE49-F238E27FC236}">
                <a16:creationId xmlns:a16="http://schemas.microsoft.com/office/drawing/2014/main" id="{70CAD6C5-CC75-D99B-21DF-59AE8672B2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01"/>
          <a:stretch/>
        </p:blipFill>
        <p:spPr>
          <a:xfrm>
            <a:off x="393290" y="0"/>
            <a:ext cx="875071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CC806-8351-492E-B2AD-4AB6159A9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68288"/>
            <a:ext cx="7744409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2400" b="0" i="0" kern="1200" cap="none" baseline="0" smtClean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r>
              <a:rPr lang="en-GB" noProof="0">
                <a:solidFill>
                  <a:schemeClr val="accent1"/>
                </a:solidFill>
              </a:rPr>
              <a:t>Title Lorem Ipsum Dolor Sit </a:t>
            </a:r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B1562719-DFE1-EA1F-B572-15F5D6F2F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970643"/>
            <a:ext cx="7711241" cy="20672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0849" marR="0" indent="-170849" algn="l" defTabSz="685181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604187"/>
              </a:buClr>
              <a:buSzTx/>
              <a:buFontTx/>
              <a:buBlip>
                <a:blip r:embed="rId3"/>
              </a:buBlip>
              <a:tabLst/>
              <a:defRPr sz="1400" b="0" i="0">
                <a:solidFill>
                  <a:schemeClr val="tx2"/>
                </a:solidFill>
                <a:latin typeface="+mn-lt"/>
              </a:defRPr>
            </a:lvl1pPr>
            <a:lvl2pPr marL="312738" indent="-130175">
              <a:lnSpc>
                <a:spcPct val="100000"/>
              </a:lnSpc>
              <a:buClr>
                <a:schemeClr val="accent1"/>
              </a:buClr>
              <a:buFont typeface="Wingdings" pitchFamily="2" charset="2"/>
              <a:buChar char="§"/>
              <a:tabLst/>
              <a:defRPr sz="1100" b="0" i="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marL="450850" indent="-1381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b="0" i="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marL="581025" indent="-130175">
              <a:lnSpc>
                <a:spcPct val="100000"/>
              </a:lnSpc>
              <a:buClr>
                <a:schemeClr val="accent1"/>
              </a:buClr>
              <a:buFont typeface="System Font Regular"/>
              <a:buChar char="-"/>
              <a:tabLst/>
              <a:defRPr sz="700" b="0" i="0">
                <a:solidFill>
                  <a:schemeClr val="tx2"/>
                </a:solidFill>
                <a:latin typeface="Trebuchet MS" panose="020B0703020202090204" pitchFamily="34" charset="0"/>
              </a:defRPr>
            </a:lvl4pPr>
          </a:lstStyle>
          <a:p>
            <a:r>
              <a:rPr lang="en-GB" noProof="0" dirty="0"/>
              <a:t>Bullet number 1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Bullet 2</a:t>
            </a:r>
          </a:p>
          <a:p>
            <a:pPr lvl="2"/>
            <a:r>
              <a:rPr lang="en-GB" noProof="0" dirty="0"/>
              <a:t>Bullet 3</a:t>
            </a:r>
          </a:p>
          <a:p>
            <a:pPr lvl="3"/>
            <a:r>
              <a:rPr lang="en-GB" noProof="0" dirty="0"/>
              <a:t>Bullet 4</a:t>
            </a:r>
          </a:p>
          <a:p>
            <a:r>
              <a:rPr lang="en-GB" noProof="0" dirty="0"/>
              <a:t>Bullet number 2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r>
              <a:rPr lang="en-GB" noProof="0" dirty="0"/>
              <a:t>Bullet number 3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754340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9" userDrawn="1">
          <p15:clr>
            <a:srgbClr val="FBAE40"/>
          </p15:clr>
        </p15:guide>
        <p15:guide id="2" pos="476" userDrawn="1">
          <p15:clr>
            <a:srgbClr val="FBAE40"/>
          </p15:clr>
        </p15:guide>
        <p15:guide id="4" orient="horz" pos="61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ara + Ribbon +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liquid flowing in the air&#10;&#10;Description automatically generated">
            <a:extLst>
              <a:ext uri="{FF2B5EF4-FFF2-40B4-BE49-F238E27FC236}">
                <a16:creationId xmlns:a16="http://schemas.microsoft.com/office/drawing/2014/main" id="{87148449-1807-9745-6C6D-C0D102D61A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01"/>
          <a:stretch/>
        </p:blipFill>
        <p:spPr>
          <a:xfrm>
            <a:off x="393290" y="0"/>
            <a:ext cx="875071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CC806-8351-492E-B2AD-4AB6159A9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650" y="271454"/>
            <a:ext cx="7744409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2400" b="0" i="0" cap="none" baseline="0" noProof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GB" noProof="0">
                <a:solidFill>
                  <a:schemeClr val="accent1"/>
                </a:solidFill>
              </a:rPr>
              <a:t>Title Lorem Ipsum Dolor Sit </a:t>
            </a:r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B1562719-DFE1-EA1F-B572-15F5D6F2F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3128" y="1248121"/>
            <a:ext cx="4566706" cy="2713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0849" marR="0" indent="-170849" algn="l" defTabSz="685181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604187"/>
              </a:buClr>
              <a:buSzTx/>
              <a:buFontTx/>
              <a:buBlip>
                <a:blip r:embed="rId3"/>
              </a:buBlip>
              <a:tabLst/>
              <a:defRPr sz="1400" b="0" i="0">
                <a:solidFill>
                  <a:schemeClr val="tx2"/>
                </a:solidFill>
                <a:latin typeface="+mn-lt"/>
              </a:defRPr>
            </a:lvl1pPr>
            <a:lvl2pPr marL="312738" indent="-130175">
              <a:lnSpc>
                <a:spcPct val="100000"/>
              </a:lnSpc>
              <a:buClr>
                <a:schemeClr val="accent1"/>
              </a:buClr>
              <a:buFont typeface="Wingdings" pitchFamily="2" charset="2"/>
              <a:buChar char="§"/>
              <a:tabLst/>
              <a:defRPr sz="1100" b="0" i="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marL="450850" indent="-1381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b="0" i="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marL="581025" indent="-130175">
              <a:lnSpc>
                <a:spcPct val="100000"/>
              </a:lnSpc>
              <a:buClr>
                <a:schemeClr val="accent1"/>
              </a:buClr>
              <a:buFont typeface="System Font Regular"/>
              <a:buChar char="-"/>
              <a:tabLst/>
              <a:defRPr sz="700" b="0" i="0">
                <a:solidFill>
                  <a:schemeClr val="tx2"/>
                </a:solidFill>
                <a:latin typeface="Trebuchet MS" panose="020B0703020202090204" pitchFamily="34" charset="0"/>
              </a:defRPr>
            </a:lvl4pPr>
          </a:lstStyle>
          <a:p>
            <a:r>
              <a:rPr lang="en-GB" noProof="0" dirty="0"/>
              <a:t>Bullet number 1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Bullet 2</a:t>
            </a:r>
          </a:p>
          <a:p>
            <a:pPr lvl="2"/>
            <a:r>
              <a:rPr lang="en-GB" noProof="0" dirty="0"/>
              <a:t>Bullet 3</a:t>
            </a:r>
          </a:p>
          <a:p>
            <a:pPr lvl="3"/>
            <a:r>
              <a:rPr lang="en-GB" noProof="0" dirty="0"/>
              <a:t>Bullet 4</a:t>
            </a:r>
          </a:p>
          <a:p>
            <a:r>
              <a:rPr lang="en-GB" noProof="0" dirty="0"/>
              <a:t>Bullet number 2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r>
              <a:rPr lang="en-GB" noProof="0" dirty="0"/>
              <a:t>Bullet number 3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89603C-42B8-CF50-D600-9DA48254CD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650" y="971550"/>
            <a:ext cx="2486314" cy="3719945"/>
          </a:xfrm>
          <a:prstGeom prst="roundRect">
            <a:avLst>
              <a:gd name="adj" fmla="val 4091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31029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9" userDrawn="1">
          <p15:clr>
            <a:srgbClr val="FBAE40"/>
          </p15:clr>
        </p15:guide>
        <p15:guide id="2" pos="476">
          <p15:clr>
            <a:srgbClr val="FBAE40"/>
          </p15:clr>
        </p15:guide>
        <p15:guide id="4" orient="horz" pos="612" userDrawn="1">
          <p15:clr>
            <a:srgbClr val="FBAE40"/>
          </p15:clr>
        </p15:guide>
        <p15:guide id="5" pos="24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ara + Ribbon +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liquid flowing in the air&#10;&#10;Description automatically generated">
            <a:extLst>
              <a:ext uri="{FF2B5EF4-FFF2-40B4-BE49-F238E27FC236}">
                <a16:creationId xmlns:a16="http://schemas.microsoft.com/office/drawing/2014/main" id="{14D641CC-A89D-709D-C901-02CE41671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01"/>
          <a:stretch/>
        </p:blipFill>
        <p:spPr>
          <a:xfrm>
            <a:off x="393290" y="0"/>
            <a:ext cx="875071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CC806-8351-492E-B2AD-4AB6159A9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650" y="266043"/>
            <a:ext cx="4280608" cy="664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2400" b="0" i="0" cap="none" baseline="0" noProof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/>
            <a:r>
              <a:rPr lang="en-GB" noProof="0" dirty="0">
                <a:solidFill>
                  <a:schemeClr val="accent1"/>
                </a:solidFill>
              </a:rPr>
              <a:t>Title Lorem Ipsum </a:t>
            </a:r>
            <a:r>
              <a:rPr lang="en-GB" noProof="0" dirty="0" err="1">
                <a:solidFill>
                  <a:schemeClr val="accent1"/>
                </a:solidFill>
              </a:rPr>
              <a:t>Dolor</a:t>
            </a:r>
            <a:r>
              <a:rPr lang="en-GB" noProof="0" dirty="0">
                <a:solidFill>
                  <a:schemeClr val="accent1"/>
                </a:solidFill>
              </a:rPr>
              <a:t> Sit</a:t>
            </a:r>
            <a:br>
              <a:rPr lang="en-GB" noProof="0" dirty="0">
                <a:solidFill>
                  <a:schemeClr val="accent1"/>
                </a:solidFill>
              </a:rPr>
            </a:br>
            <a:r>
              <a:rPr lang="en-GB" noProof="0" dirty="0">
                <a:solidFill>
                  <a:schemeClr val="accent1"/>
                </a:solidFill>
              </a:rPr>
              <a:t>2-line header </a:t>
            </a:r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B1562719-DFE1-EA1F-B572-15F5D6F2F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448" y="1211836"/>
            <a:ext cx="4252898" cy="2713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0849" marR="0" indent="-170849" algn="l" defTabSz="685181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604187"/>
              </a:buClr>
              <a:buSzTx/>
              <a:buFontTx/>
              <a:buBlip>
                <a:blip r:embed="rId3"/>
              </a:buBlip>
              <a:tabLst/>
              <a:defRPr sz="1400" b="0" i="0">
                <a:solidFill>
                  <a:schemeClr val="tx2"/>
                </a:solidFill>
                <a:latin typeface="+mn-lt"/>
              </a:defRPr>
            </a:lvl1pPr>
            <a:lvl2pPr marL="312738" indent="-130175">
              <a:lnSpc>
                <a:spcPct val="100000"/>
              </a:lnSpc>
              <a:buClr>
                <a:schemeClr val="accent1"/>
              </a:buClr>
              <a:buFont typeface="Wingdings" pitchFamily="2" charset="2"/>
              <a:buChar char="§"/>
              <a:tabLst/>
              <a:defRPr sz="1100" b="0" i="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marL="450850" indent="-1381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b="0" i="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marL="581025" indent="-130175">
              <a:lnSpc>
                <a:spcPct val="100000"/>
              </a:lnSpc>
              <a:buClr>
                <a:schemeClr val="accent1"/>
              </a:buClr>
              <a:buFont typeface="System Font Regular"/>
              <a:buChar char="-"/>
              <a:tabLst/>
              <a:defRPr sz="700" b="0" i="0">
                <a:solidFill>
                  <a:schemeClr val="tx2"/>
                </a:solidFill>
                <a:latin typeface="Trebuchet MS" panose="020B0703020202090204" pitchFamily="34" charset="0"/>
              </a:defRPr>
            </a:lvl4pPr>
          </a:lstStyle>
          <a:p>
            <a:r>
              <a:rPr lang="en-GB" noProof="0" dirty="0"/>
              <a:t>Bullet number 1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Bullet 2</a:t>
            </a:r>
          </a:p>
          <a:p>
            <a:pPr lvl="2"/>
            <a:r>
              <a:rPr lang="en-GB" noProof="0" dirty="0"/>
              <a:t>Bullet 3</a:t>
            </a:r>
          </a:p>
          <a:p>
            <a:pPr lvl="3"/>
            <a:r>
              <a:rPr lang="en-GB" noProof="0" dirty="0"/>
              <a:t>Bullet 4</a:t>
            </a:r>
          </a:p>
          <a:p>
            <a:r>
              <a:rPr lang="en-GB" noProof="0" dirty="0"/>
              <a:t>Bullet number 2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r>
              <a:rPr lang="en-GB" noProof="0" dirty="0"/>
              <a:t>Bullet number 3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621AA57-3B80-BAB7-F837-FD382B3673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53028" y="733714"/>
            <a:ext cx="2653289" cy="3574473"/>
          </a:xfrm>
          <a:prstGeom prst="roundRect">
            <a:avLst>
              <a:gd name="adj" fmla="val 4003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8712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9" userDrawn="1">
          <p15:clr>
            <a:srgbClr val="FBAE40"/>
          </p15:clr>
        </p15:guide>
        <p15:guide id="2" pos="476">
          <p15:clr>
            <a:srgbClr val="FBAE40"/>
          </p15:clr>
        </p15:guide>
        <p15:guide id="4" orient="horz" pos="7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Full image + A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people standing in a circle&#10;&#10;Description automatically generated">
            <a:extLst>
              <a:ext uri="{FF2B5EF4-FFF2-40B4-BE49-F238E27FC236}">
                <a16:creationId xmlns:a16="http://schemas.microsoft.com/office/drawing/2014/main" id="{47498A98-C219-D14C-6CF7-1DD96273E4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31" t="6308" r="1448" b="772"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64AA90-06A6-1A4E-81BD-6760D05014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85314" y="4601022"/>
            <a:ext cx="1204686" cy="32225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9000F-80A8-3EAD-BDAC-F4FB75A7FB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285750"/>
            <a:ext cx="8329612" cy="36563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en-US" sz="2400" b="0" i="0" cap="none" baseline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774126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3" pos="476" userDrawn="1">
          <p15:clr>
            <a:srgbClr val="FBAE40"/>
          </p15:clr>
        </p15:guide>
        <p15:guide id="4" orient="horz" pos="180" userDrawn="1">
          <p15:clr>
            <a:srgbClr val="FBAE40"/>
          </p15:clr>
        </p15:guide>
        <p15:guide id="5" orient="horz" pos="6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10">
            <a:extLst>
              <a:ext uri="{FF2B5EF4-FFF2-40B4-BE49-F238E27FC236}">
                <a16:creationId xmlns:a16="http://schemas.microsoft.com/office/drawing/2014/main" id="{29E69EC6-82E8-154A-A9F5-058ABBEA44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5650" y="742950"/>
            <a:ext cx="7711242" cy="2492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 b="0" i="0">
                <a:solidFill>
                  <a:srgbClr val="6B489D"/>
                </a:solidFill>
                <a:latin typeface="+mj-lt"/>
              </a:defRPr>
            </a:lvl1pPr>
          </a:lstStyle>
          <a:p>
            <a:r>
              <a:rPr lang="en-GB" noProof="0" dirty="0">
                <a:solidFill>
                  <a:schemeClr val="accent1"/>
                </a:solidFill>
              </a:rPr>
              <a:t>This is a subtitle you can use</a:t>
            </a:r>
            <a:r>
              <a:rPr lang="en-GB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Segnaposto testo 12">
            <a:extLst>
              <a:ext uri="{FF2B5EF4-FFF2-40B4-BE49-F238E27FC236}">
                <a16:creationId xmlns:a16="http://schemas.microsoft.com/office/drawing/2014/main" id="{4F0A8992-BDB6-5243-B94F-EF38E6494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447" y="1204579"/>
            <a:ext cx="7711241" cy="20672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3038" marR="0" indent="-173038" algn="l" defTabSz="685181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604187"/>
              </a:buClr>
              <a:buSzTx/>
              <a:buFontTx/>
              <a:buBlip>
                <a:blip r:embed="rId2"/>
              </a:buBlip>
              <a:tabLst/>
              <a:defRPr sz="1400" b="0" i="0">
                <a:solidFill>
                  <a:schemeClr val="tx2"/>
                </a:solidFill>
                <a:latin typeface="+mn-lt"/>
              </a:defRPr>
            </a:lvl1pPr>
            <a:lvl2pPr marL="344488" indent="-169863">
              <a:lnSpc>
                <a:spcPct val="100000"/>
              </a:lnSpc>
              <a:buClr>
                <a:schemeClr val="accent1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marL="517525" indent="-173038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="0" i="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marL="741363" indent="-169863">
              <a:lnSpc>
                <a:spcPct val="100000"/>
              </a:lnSpc>
              <a:buClr>
                <a:schemeClr val="accent1"/>
              </a:buClr>
              <a:buFont typeface="System Font Regular"/>
              <a:buChar char="-"/>
              <a:defRPr sz="700" b="0" i="0">
                <a:solidFill>
                  <a:schemeClr val="tx2"/>
                </a:solidFill>
                <a:latin typeface="Trebuchet MS" panose="020B0703020202090204" pitchFamily="34" charset="0"/>
              </a:defRPr>
            </a:lvl4pPr>
          </a:lstStyle>
          <a:p>
            <a:r>
              <a:rPr lang="en-GB" noProof="0" dirty="0"/>
              <a:t>Bullet number 1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Bullet 2</a:t>
            </a:r>
          </a:p>
          <a:p>
            <a:pPr lvl="2"/>
            <a:r>
              <a:rPr lang="en-GB" noProof="0" dirty="0"/>
              <a:t>Bullet 3</a:t>
            </a:r>
          </a:p>
          <a:p>
            <a:pPr lvl="3"/>
            <a:r>
              <a:rPr lang="en-GB" noProof="0" dirty="0"/>
              <a:t>Bullet 4</a:t>
            </a:r>
          </a:p>
          <a:p>
            <a:r>
              <a:rPr lang="en-GB" noProof="0" dirty="0"/>
              <a:t>Bullet number 2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  <a:p>
            <a:r>
              <a:rPr lang="en-GB" noProof="0" dirty="0"/>
              <a:t>Bullet number 3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quam</a:t>
            </a:r>
            <a:r>
              <a:rPr lang="en-GB" noProof="0" dirty="0"/>
              <a:t>. 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D3D5D-AE9B-4E48-BD3A-1722D0B57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650" y="268288"/>
            <a:ext cx="7706054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2400" b="0" i="0" kern="1200" cap="none" baseline="0" dirty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r>
              <a:rPr lang="en-GB" noProof="0" dirty="0">
                <a:solidFill>
                  <a:schemeClr val="accent1"/>
                </a:solidFill>
              </a:rPr>
              <a:t>Example of a Long Title Lorem Ipsum </a:t>
            </a:r>
            <a:r>
              <a:rPr lang="en-GB" noProof="0" dirty="0" err="1">
                <a:solidFill>
                  <a:schemeClr val="accent1"/>
                </a:solidFill>
              </a:rPr>
              <a:t>Dolor</a:t>
            </a:r>
            <a:r>
              <a:rPr lang="en-GB" noProof="0" dirty="0">
                <a:solidFill>
                  <a:schemeClr val="accent1"/>
                </a:solidFill>
              </a:rPr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33742337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3" pos="476">
          <p15:clr>
            <a:srgbClr val="FBAE40"/>
          </p15:clr>
        </p15:guide>
        <p15:guide id="5" orient="horz" pos="756" userDrawn="1">
          <p15:clr>
            <a:srgbClr val="FBAE40"/>
          </p15:clr>
        </p15:guide>
        <p15:guide id="6" orient="horz" pos="169" userDrawn="1">
          <p15:clr>
            <a:srgbClr val="FBAE40"/>
          </p15:clr>
        </p15:guide>
        <p15:guide id="7" orient="horz" pos="4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No 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929B7-FD03-A72F-973C-913A4B945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5650" y="271454"/>
            <a:ext cx="66929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lang="en-US" sz="2400" b="0" i="0" cap="none" baseline="0">
                <a:solidFill>
                  <a:schemeClr val="accent1"/>
                </a:solidFill>
                <a:latin typeface="+mj-lt"/>
                <a:ea typeface="Trebuchet MS" panose="020B0703020202090204" pitchFamily="34" charset="0"/>
                <a:cs typeface="Trebuchet MS" panose="020B0703020202090204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04982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476" userDrawn="1">
          <p15:clr>
            <a:srgbClr val="FBAE40"/>
          </p15:clr>
        </p15:guide>
        <p15:guide id="3" orient="horz" pos="169" userDrawn="1">
          <p15:clr>
            <a:srgbClr val="FBAE40"/>
          </p15:clr>
        </p15:guide>
        <p15:guide id="4" orient="horz" pos="6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9D056-FE08-8003-4C26-E35F33C1668F}"/>
              </a:ext>
            </a:extLst>
          </p:cNvPr>
          <p:cNvSpPr/>
          <p:nvPr userDrawn="1"/>
        </p:nvSpPr>
        <p:spPr>
          <a:xfrm>
            <a:off x="2352961" y="3055743"/>
            <a:ext cx="443807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#WhereEverythingConnects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B6F47-8F30-FE47-F32B-B533AEA689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9683" y="828537"/>
            <a:ext cx="5344633" cy="204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719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944">
            <a:extLst>
              <a:ext uri="{FF2B5EF4-FFF2-40B4-BE49-F238E27FC236}">
                <a16:creationId xmlns:a16="http://schemas.microsoft.com/office/drawing/2014/main" id="{23DD771A-92E9-10FD-F0E5-1161F8FBB4F4}"/>
              </a:ext>
            </a:extLst>
          </p:cNvPr>
          <p:cNvSpPr/>
          <p:nvPr userDrawn="1"/>
        </p:nvSpPr>
        <p:spPr>
          <a:xfrm>
            <a:off x="4473476" y="2051344"/>
            <a:ext cx="197049" cy="197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marL="0" marR="0" lvl="0" indent="0" algn="l" defTabSz="171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rebuchet MS" panose="020B0703020202090204" pitchFamily="34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02C7634B-F34F-95E7-D5DC-07FE1BA67C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7545" y="2330388"/>
            <a:ext cx="11689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Trebuchet MS" panose="020B0603020202020204"/>
                <a:ea typeface="Open Sans Semibold"/>
                <a:cs typeface="Open Sans Semibold"/>
              </a:rPr>
              <a:t>WEBSITE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576DBEB3-6AF9-8E8A-F88E-A2CCB23603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5410" y="2668348"/>
            <a:ext cx="24531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Open Sans Semibold"/>
                <a:cs typeface="Open Sans Semi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www.al-enterprise.com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rebuchet MS" panose="020B0603020202020204"/>
                <a:ea typeface="Open Sans Semibold"/>
                <a:cs typeface="Open Sans Semibold"/>
              </a:rPr>
              <a:t> </a:t>
            </a:r>
          </a:p>
          <a:p>
            <a:pPr marL="0" marR="0" lvl="0" indent="0" algn="ctr" defTabSz="685783" rtl="0" eaLnBrk="1" fontAlgn="auto" latinLnBrk="0" hangingPunct="1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04187"/>
              </a:solidFill>
              <a:effectLst/>
              <a:uLnTx/>
              <a:uFillTx/>
              <a:latin typeface="Trebuchet MS" panose="020B0603020202020204"/>
              <a:ea typeface="Open Sans Semibold"/>
              <a:cs typeface="Open Sans Semibold"/>
            </a:endParaRPr>
          </a:p>
        </p:txBody>
      </p:sp>
      <p:sp>
        <p:nvSpPr>
          <p:cNvPr id="29" name="CasellaDiTesto 12">
            <a:extLst>
              <a:ext uri="{FF2B5EF4-FFF2-40B4-BE49-F238E27FC236}">
                <a16:creationId xmlns:a16="http://schemas.microsoft.com/office/drawing/2014/main" id="{7973B9B0-B1C2-1030-ADB8-134C52E11BF2}"/>
              </a:ext>
            </a:extLst>
          </p:cNvPr>
          <p:cNvSpPr txBox="1"/>
          <p:nvPr userDrawn="1"/>
        </p:nvSpPr>
        <p:spPr>
          <a:xfrm>
            <a:off x="2130611" y="4857750"/>
            <a:ext cx="5055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The Alcatel-Lucent name and logo are trademarks of Nokia used under license by ALE.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3D31CA-3E11-C15C-06D9-82D574DF7CBC}"/>
              </a:ext>
            </a:extLst>
          </p:cNvPr>
          <p:cNvGrpSpPr/>
          <p:nvPr userDrawn="1"/>
        </p:nvGrpSpPr>
        <p:grpSpPr>
          <a:xfrm>
            <a:off x="3499005" y="3236078"/>
            <a:ext cx="2098249" cy="216615"/>
            <a:chOff x="3499005" y="3236078"/>
            <a:chExt cx="2098249" cy="216615"/>
          </a:xfrm>
        </p:grpSpPr>
        <p:sp>
          <p:nvSpPr>
            <p:cNvPr id="31" name="TextBox 6">
              <a:extLst>
                <a:ext uri="{FF2B5EF4-FFF2-40B4-BE49-F238E27FC236}">
                  <a16:creationId xmlns:a16="http://schemas.microsoft.com/office/drawing/2014/main" id="{8787DD49-1E9F-C13E-0C17-98D692F52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005" y="3254248"/>
              <a:ext cx="927640" cy="180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6132" tIns="13066" rIns="26132" bIns="13066">
              <a:spAutoFit/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6B489D"/>
                  </a:solidFill>
                  <a:effectLst/>
                  <a:uLnTx/>
                  <a:uFillTx/>
                  <a:latin typeface="Trebuchet MS" charset="0"/>
                  <a:ea typeface="+mn-ea"/>
                  <a:cs typeface="+mn-cs"/>
                </a:rPr>
                <a:t>Follow us on:</a:t>
              </a:r>
            </a:p>
          </p:txBody>
        </p:sp>
        <p:pic>
          <p:nvPicPr>
            <p:cNvPr id="32" name="Picture 31">
              <a:hlinkClick r:id="rId3"/>
              <a:extLst>
                <a:ext uri="{FF2B5EF4-FFF2-40B4-BE49-F238E27FC236}">
                  <a16:creationId xmlns:a16="http://schemas.microsoft.com/office/drawing/2014/main" id="{6369DDC5-E0D1-6E9F-2BB8-18900DEFA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426645" y="3240607"/>
              <a:ext cx="207556" cy="207556"/>
            </a:xfrm>
            <a:prstGeom prst="rect">
              <a:avLst/>
            </a:prstGeom>
          </p:spPr>
        </p:pic>
        <p:pic>
          <p:nvPicPr>
            <p:cNvPr id="33" name="Picture 32">
              <a:hlinkClick r:id="rId5"/>
              <a:extLst>
                <a:ext uri="{FF2B5EF4-FFF2-40B4-BE49-F238E27FC236}">
                  <a16:creationId xmlns:a16="http://schemas.microsoft.com/office/drawing/2014/main" id="{53DF6E5A-0748-D808-9DFC-BF10C417A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4718666" y="3236385"/>
              <a:ext cx="254513" cy="216000"/>
            </a:xfrm>
            <a:prstGeom prst="rect">
              <a:avLst/>
            </a:prstGeom>
          </p:spPr>
        </p:pic>
        <p:pic>
          <p:nvPicPr>
            <p:cNvPr id="34" name="Picture 33">
              <a:hlinkClick r:id="rId7"/>
              <a:extLst>
                <a:ext uri="{FF2B5EF4-FFF2-40B4-BE49-F238E27FC236}">
                  <a16:creationId xmlns:a16="http://schemas.microsoft.com/office/drawing/2014/main" id="{02015A27-015C-0719-2218-2C58F97F5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5041675" y="3236078"/>
              <a:ext cx="216615" cy="216615"/>
            </a:xfrm>
            <a:prstGeom prst="rect">
              <a:avLst/>
            </a:prstGeom>
          </p:spPr>
        </p:pic>
        <p:pic>
          <p:nvPicPr>
            <p:cNvPr id="35" name="Picture 34">
              <a:hlinkClick r:id="rId9"/>
              <a:extLst>
                <a:ext uri="{FF2B5EF4-FFF2-40B4-BE49-F238E27FC236}">
                  <a16:creationId xmlns:a16="http://schemas.microsoft.com/office/drawing/2014/main" id="{6CD4B613-AE31-C31F-0483-56BC45BD6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362920" y="3261836"/>
              <a:ext cx="234334" cy="165099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66F3E94-3E74-B357-5FD7-8FACED0CC482}"/>
              </a:ext>
            </a:extLst>
          </p:cNvPr>
          <p:cNvSpPr txBox="1"/>
          <p:nvPr userDrawn="1"/>
        </p:nvSpPr>
        <p:spPr>
          <a:xfrm>
            <a:off x="2739558" y="937706"/>
            <a:ext cx="3642023" cy="615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R="0" lvl="0" indent="0" algn="ctr" defTabSz="171444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000" u="none" strike="noStrike" cap="none" spc="900" normalizeH="0" baseline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Open Sans" charset="0"/>
                <a:cs typeface="Open Sans" charset="0"/>
              </a:defRPr>
            </a:lvl1pPr>
            <a:lvl2pPr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71444"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6pPr>
            <a:lvl7pPr marL="342887"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7pPr>
            <a:lvl8pPr marL="514332"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8pPr>
            <a:lvl9pPr marL="685776" defTabSz="68518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50">
                <a:latin typeface="Montserrat Hairline" charset="0"/>
                <a:ea typeface="Montserrat Hairline" charset="0"/>
                <a:cs typeface="Montserrat Hairline" charset="0"/>
              </a:defRPr>
            </a:lvl9pPr>
          </a:lstStyle>
          <a:p>
            <a:r>
              <a:rPr lang="en-US"/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389130356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CD0666-6F96-2809-2097-199FFAF391AA}"/>
              </a:ext>
            </a:extLst>
          </p:cNvPr>
          <p:cNvSpPr/>
          <p:nvPr userDrawn="1"/>
        </p:nvSpPr>
        <p:spPr>
          <a:xfrm>
            <a:off x="-1" y="0"/>
            <a:ext cx="404327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Trebuchet MS" panose="020B07030202020902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EB082B-26EF-1CF5-08EF-6FC30B75A7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523510" y="646127"/>
            <a:ext cx="144993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b="0" i="0" kern="1200">
                <a:solidFill>
                  <a:schemeClr val="bg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Alcatel-Lucent Enterprise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B1D2C-E62E-08A7-0903-9B68D8A6C503}"/>
              </a:ext>
            </a:extLst>
          </p:cNvPr>
          <p:cNvSpPr txBox="1"/>
          <p:nvPr userDrawn="1"/>
        </p:nvSpPr>
        <p:spPr>
          <a:xfrm rot="16200000">
            <a:off x="-320791" y="4450997"/>
            <a:ext cx="10334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  <a:latin typeface="Trebuchet MS" panose="020B0703020202090204" pitchFamily="34" charset="0"/>
              </a:rPr>
              <a:t>June ’25</a:t>
            </a:r>
            <a:endParaRPr lang="en-US" sz="8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B18C5-5554-1457-D716-EC52752FCEA1}"/>
              </a:ext>
            </a:extLst>
          </p:cNvPr>
          <p:cNvSpPr txBox="1"/>
          <p:nvPr userDrawn="1"/>
        </p:nvSpPr>
        <p:spPr>
          <a:xfrm>
            <a:off x="28223" y="2455335"/>
            <a:ext cx="34431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defTabSz="685181" eaLnBrk="0" fontAlgn="base" hangingPunct="0">
              <a:lnSpc>
                <a:spcPct val="90000"/>
              </a:lnSpc>
              <a:spcBef>
                <a:spcPts val="750"/>
              </a:spcBef>
              <a:spcAft>
                <a:spcPts val="1200"/>
              </a:spcAft>
              <a:buClr>
                <a:srgbClr val="604187"/>
              </a:buClr>
              <a:buFontTx/>
              <a:buNone/>
            </a:pPr>
            <a:fld id="{07A77794-06C4-8048-A637-A482E7C8E541}" type="slidenum">
              <a:rPr lang="en-US" sz="1000">
                <a:solidFill>
                  <a:schemeClr val="bg1"/>
                </a:solidFill>
                <a:latin typeface="Trebuchet MS" panose="020B0603020202020204"/>
              </a:rPr>
              <a:pPr marL="0" indent="0" algn="ctr" defTabSz="685181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ts val="1200"/>
                </a:spcAft>
                <a:buClr>
                  <a:srgbClr val="604187"/>
                </a:buClr>
                <a:buFontTx/>
                <a:buNone/>
              </a:pPr>
              <a:t>‹N°›</a:t>
            </a:fld>
            <a:endParaRPr lang="en-US" sz="1000">
              <a:solidFill>
                <a:schemeClr val="bg1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506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6" r:id="rId2"/>
    <p:sldLayoutId id="2147483841" r:id="rId3"/>
    <p:sldLayoutId id="2147483840" r:id="rId4"/>
    <p:sldLayoutId id="2147483837" r:id="rId5"/>
    <p:sldLayoutId id="2147483838" r:id="rId6"/>
    <p:sldLayoutId id="2147483839" r:id="rId7"/>
    <p:sldLayoutId id="2147483842" r:id="rId8"/>
    <p:sldLayoutId id="2147483843" r:id="rId9"/>
  </p:sldLayoutIdLst>
  <p:transition/>
  <p:hf hdr="0"/>
  <p:txStyles>
    <p:titleStyle>
      <a:lvl1pPr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1650" kern="120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1pPr>
      <a:lvl2pPr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2pPr>
      <a:lvl3pPr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3pPr>
      <a:lvl4pPr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4pPr>
      <a:lvl5pPr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5pPr>
      <a:lvl6pPr marL="171444"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6pPr>
      <a:lvl7pPr marL="342887"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7pPr>
      <a:lvl8pPr marL="514332"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8pPr>
      <a:lvl9pPr marL="685776" algn="l" defTabSz="68518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5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9pPr>
    </p:titleStyle>
    <p:bodyStyle>
      <a:lvl1pPr marL="170849" indent="-170849" algn="l" defTabSz="685181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lang="en-US" sz="1350" kern="1200" dirty="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1pPr>
      <a:lvl2pPr marL="513737" indent="-170849" algn="l" defTabSz="685181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sz="1050" kern="1200" dirty="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2pPr>
      <a:lvl3pPr marL="856625" indent="-170849" algn="l" defTabSz="685181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3pPr>
      <a:lvl4pPr marL="1199513" indent="-170849" algn="l" defTabSz="685181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sz="750" kern="1200" dirty="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4pPr>
      <a:lvl5pPr marL="1542401" indent="-170849" algn="l" defTabSz="685181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sz="750" kern="1200" dirty="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5pPr>
      <a:lvl6pPr marL="1885507" indent="-171410" algn="l" defTabSz="6856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27" indent="-171410" algn="l" defTabSz="6856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46" indent="-171410" algn="l" defTabSz="6856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965" indent="-171410" algn="l" defTabSz="6856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20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39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59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78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97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16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736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56" algn="l" defTabSz="6856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2.jp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tiff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jpe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jpe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microsoft.com/office/2007/relationships/hdphoto" Target="../media/hdphoto4.wdp"/><Relationship Id="rId3" Type="http://schemas.openxmlformats.org/officeDocument/2006/relationships/image" Target="../media/image59.jpg"/><Relationship Id="rId7" Type="http://schemas.openxmlformats.org/officeDocument/2006/relationships/image" Target="../media/image62.jpe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64.png"/><Relationship Id="rId4" Type="http://schemas.openxmlformats.org/officeDocument/2006/relationships/image" Target="../media/image60.png"/><Relationship Id="rId9" Type="http://schemas.microsoft.com/office/2007/relationships/hdphoto" Target="../media/hdphoto2.wdp"/><Relationship Id="rId14" Type="http://schemas.openxmlformats.org/officeDocument/2006/relationships/image" Target="../media/image6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EED5A-594F-AF3D-B692-F615AFA9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D388-B051-65AC-F438-BDE70B42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121" y="783721"/>
            <a:ext cx="8327757" cy="1384995"/>
          </a:xfrm>
        </p:spPr>
        <p:txBody>
          <a:bodyPr/>
          <a:lstStyle/>
          <a:p>
            <a:r>
              <a:rPr lang="en-GB" dirty="0"/>
              <a:t>Alcatel-Lucent Enterprise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E227B-0C74-C4EB-631D-9F99999FB6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Corporate Presentation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4D6F2-F6CD-6063-6F89-2829649DDA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June 2025</a:t>
            </a:r>
          </a:p>
        </p:txBody>
      </p:sp>
    </p:spTree>
    <p:extLst>
      <p:ext uri="{BB962C8B-B14F-4D97-AF65-F5344CB8AC3E}">
        <p14:creationId xmlns:p14="http://schemas.microsoft.com/office/powerpoint/2010/main" val="169134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5FFCF4D-0C99-48B7-9FC8-D9ACEF8672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8288"/>
            <a:ext cx="7744409" cy="332399"/>
          </a:xfrm>
        </p:spPr>
        <p:txBody>
          <a:bodyPr lIns="0" tIns="0"/>
          <a:lstStyle/>
          <a:p>
            <a:r>
              <a:rPr lang="en-GB" dirty="0"/>
              <a:t>We are Alcatel-Lucent Enterprise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0EDF3-8043-6257-4D04-A19BA3395A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971550"/>
            <a:ext cx="7712075" cy="748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provide secure networking and communication solutions enabling organizations and industries to accelerate their operational efficiencies and competitiveness. </a:t>
            </a:r>
          </a:p>
          <a:p>
            <a:pPr marL="0" indent="0">
              <a:buNone/>
            </a:pPr>
            <a:r>
              <a:rPr lang="en-US" dirty="0"/>
              <a:t>In the Cloud. On Premises. Hybrid.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761E29-53E2-4B42-9895-2F4FA14239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650" y="2286177"/>
            <a:ext cx="2039112" cy="34276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Networking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6B5E4D-E8A8-4282-ACFC-B6A46D1AAD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06250" y="2286177"/>
            <a:ext cx="2231730" cy="34304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Communications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DEEC3B-C610-459E-8A04-F595EE8E3A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65169" y="2286177"/>
            <a:ext cx="2039156" cy="34304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Services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1C082E-4361-0EE8-DA7E-ECD9ABB90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4507" y="2507491"/>
            <a:ext cx="2092664" cy="1958872"/>
            <a:chOff x="780137" y="2507491"/>
            <a:chExt cx="2092664" cy="1958872"/>
          </a:xfrm>
        </p:grpSpPr>
        <p:pic>
          <p:nvPicPr>
            <p:cNvPr id="14" name="Picture 13" descr="A person walking in a hallway with a computer&#10;&#10;Description automatically generated">
              <a:extLst>
                <a:ext uri="{FF2B5EF4-FFF2-40B4-BE49-F238E27FC236}">
                  <a16:creationId xmlns:a16="http://schemas.microsoft.com/office/drawing/2014/main" id="{C5A40F92-A426-D868-C68E-723637369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163" y="2675663"/>
              <a:ext cx="2032000" cy="17907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8" name="Picture 7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21B91B6E-321F-E53B-0D1F-C4AFEFF43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0137" y="2507491"/>
              <a:ext cx="2092664" cy="1958872"/>
            </a:xfrm>
            <a:prstGeom prst="roundRect">
              <a:avLst>
                <a:gd name="adj" fmla="val 7508"/>
              </a:avLst>
            </a:prstGeom>
            <a:noFill/>
            <a:ln>
              <a:noFill/>
            </a:ln>
            <a:effectLst/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73A3ED-CF6A-1B99-FFF2-BF637B550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19101" y="2507491"/>
            <a:ext cx="2092664" cy="1958872"/>
            <a:chOff x="3419101" y="2507491"/>
            <a:chExt cx="2092664" cy="1958872"/>
          </a:xfrm>
        </p:grpSpPr>
        <p:pic>
          <p:nvPicPr>
            <p:cNvPr id="15" name="Picture 14" descr="A person sitting on a ledge with a computer and phone&#10;&#10;Description automatically generated">
              <a:extLst>
                <a:ext uri="{FF2B5EF4-FFF2-40B4-BE49-F238E27FC236}">
                  <a16:creationId xmlns:a16="http://schemas.microsoft.com/office/drawing/2014/main" id="{F4D65500-FDD3-F717-A4D8-FB48B148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9101" y="2675663"/>
              <a:ext cx="2032000" cy="17907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9" name="Picture 18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3827486D-E923-4BEB-BDAF-EAB6E0526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19101" y="2507491"/>
              <a:ext cx="2092664" cy="1958872"/>
            </a:xfrm>
            <a:prstGeom prst="roundRect">
              <a:avLst>
                <a:gd name="adj" fmla="val 8594"/>
              </a:avLst>
            </a:prstGeom>
            <a:noFill/>
            <a:ln>
              <a:noFill/>
            </a:ln>
            <a:effectLst/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D0EB8E2-D77A-2012-D90B-2C2AEA16F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3126" y="2507491"/>
            <a:ext cx="2092664" cy="1958872"/>
            <a:chOff x="6063126" y="2507491"/>
            <a:chExt cx="2092664" cy="1958872"/>
          </a:xfrm>
        </p:grpSpPr>
        <p:pic>
          <p:nvPicPr>
            <p:cNvPr id="16" name="Picture 15" descr="A person and person shaking hands&#10;&#10;Description automatically generated">
              <a:extLst>
                <a:ext uri="{FF2B5EF4-FFF2-40B4-BE49-F238E27FC236}">
                  <a16:creationId xmlns:a16="http://schemas.microsoft.com/office/drawing/2014/main" id="{9C9E72F6-B931-31DF-F3A2-AE7DBC8FD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3126" y="2675663"/>
              <a:ext cx="2032000" cy="17907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6" name="Picture 25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F2B42C1B-F87A-0312-273E-EC4E0EF1E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63126" y="2507491"/>
              <a:ext cx="2092664" cy="1958872"/>
            </a:xfrm>
            <a:prstGeom prst="roundRect">
              <a:avLst>
                <a:gd name="adj" fmla="val 8594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65294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F7A0A-8159-4497-0D77-AA673E9283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85750"/>
            <a:ext cx="8329612" cy="36563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Our Values Drive our Behavior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0AA1003-1709-4BF1-B6E0-174FD551B3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0728" y="1137693"/>
            <a:ext cx="2365365" cy="457200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88658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srgbClr val="FFFFFF"/>
                </a:solidFill>
                <a:latin typeface="Trebuchet MS" panose="020B0603020202020204"/>
              </a:rPr>
              <a:t>Speed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&amp; Agility 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47687106-C8B1-4888-B975-32C172D96D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0728" y="2035437"/>
            <a:ext cx="2365365" cy="457200"/>
          </a:xfrm>
          <a:prstGeom prst="roundRect">
            <a:avLst/>
          </a:prstGeom>
          <a:solidFill>
            <a:srgbClr val="CF0072"/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88658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Customer Centricity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C1E3AA8F-7954-4BBD-B0A2-F27793BD16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0728" y="2933180"/>
            <a:ext cx="2365365" cy="457200"/>
          </a:xfrm>
          <a:prstGeom prst="roundRect">
            <a:avLst/>
          </a:prstGeom>
          <a:solidFill>
            <a:srgbClr val="0070C0"/>
          </a:solidFill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88658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Trebuchet MS" panose="020B0603020202020204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68552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457B3D1-F7B5-E22B-FDA2-D5BE46AD5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06"/>
          <a:stretch/>
        </p:blipFill>
        <p:spPr>
          <a:xfrm>
            <a:off x="404037" y="1239838"/>
            <a:ext cx="8741821" cy="2352448"/>
          </a:xfrm>
          <a:prstGeom prst="rect">
            <a:avLst/>
          </a:prstGeo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0C8E96-E602-C6AE-E15F-C1EAA7F5D9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68288"/>
            <a:ext cx="6692900" cy="70326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We are Committed to Creating and Delivering Technology for a Sustainable Future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19B656-D03F-1A2D-B95D-FF0ED77930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572000" y="1848213"/>
            <a:ext cx="3997865" cy="837676"/>
          </a:xfrm>
          <a:prstGeom prst="roundRect">
            <a:avLst/>
          </a:prstGeom>
          <a:solidFill>
            <a:schemeClr val="bg2"/>
          </a:solidFill>
        </p:spPr>
        <p:txBody>
          <a:bodyPr wrap="square" lIns="90000" tIns="45720" rIns="91440" bIns="45720" anchor="t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We focus on three pillars, providing technology solutions for the good of the environment, people and business.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7" name="Rectangle 47">
            <a:extLst>
              <a:ext uri="{FF2B5EF4-FFF2-40B4-BE49-F238E27FC236}">
                <a16:creationId xmlns:a16="http://schemas.microsoft.com/office/drawing/2014/main" id="{CCACEFD2-1CC5-F36F-64C5-06862FC1C5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95795" y="3311644"/>
            <a:ext cx="1546090" cy="486377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Environmental Sustainability</a:t>
            </a:r>
          </a:p>
        </p:txBody>
      </p:sp>
      <p:sp>
        <p:nvSpPr>
          <p:cNvPr id="38" name="Rectangle 47">
            <a:extLst>
              <a:ext uri="{FF2B5EF4-FFF2-40B4-BE49-F238E27FC236}">
                <a16:creationId xmlns:a16="http://schemas.microsoft.com/office/drawing/2014/main" id="{C1CA72B0-88C4-838B-0800-EC8AE61907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121375" y="3311644"/>
            <a:ext cx="1546090" cy="486377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Social Responsibility</a:t>
            </a:r>
          </a:p>
        </p:txBody>
      </p:sp>
      <p:sp>
        <p:nvSpPr>
          <p:cNvPr id="39" name="Rectangle 47">
            <a:extLst>
              <a:ext uri="{FF2B5EF4-FFF2-40B4-BE49-F238E27FC236}">
                <a16:creationId xmlns:a16="http://schemas.microsoft.com/office/drawing/2014/main" id="{B0377267-EE9F-36ED-1569-00ACAAEB9A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46955" y="3311644"/>
            <a:ext cx="1546090" cy="486377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Corporate Governance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8FF47A45-C671-230E-0EF6-C743EA66F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62001" y="4038600"/>
            <a:ext cx="529228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R="0" indent="0" defTabSz="685181" eaLnBrk="0" fontAlgn="base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604187"/>
              </a:buClr>
              <a:buSzTx/>
              <a:buFontTx/>
              <a:buNone/>
              <a:tabLst/>
              <a:defRPr lang="en-US" sz="1400" b="0" i="0">
                <a:solidFill>
                  <a:schemeClr val="tx2">
                    <a:lumMod val="50000"/>
                  </a:schemeClr>
                </a:solidFill>
                <a:ea typeface="Montserrat Hairline" charset="0"/>
                <a:cs typeface="Montserrat Hairline" charset="0"/>
              </a:defRPr>
            </a:lvl1pPr>
            <a:lvl2pPr marL="513737" indent="-170849" defTabSz="685181" fontAlgn="base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FontTx/>
              <a:buBlip>
                <a:blip r:embed="rId4"/>
              </a:buBlip>
              <a:defRPr lang="en-US" sz="1100" b="0" i="0">
                <a:latin typeface="Trebuchet MS" panose="020B0703020202090204" pitchFamily="34" charset="0"/>
                <a:ea typeface="Montserrat Hairline" charset="0"/>
                <a:cs typeface="Montserrat Hairline" charset="0"/>
              </a:defRPr>
            </a:lvl2pPr>
            <a:lvl3pPr marL="857219" indent="-171444" defTabSz="685181" fontAlgn="base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FontTx/>
              <a:buBlip>
                <a:blip r:embed="rId4"/>
              </a:buBlip>
              <a:defRPr lang="en-US" sz="900" b="0" i="0">
                <a:latin typeface="Trebuchet MS" panose="020B0703020202090204" pitchFamily="34" charset="0"/>
                <a:ea typeface="Montserrat Hairline" charset="0"/>
                <a:cs typeface="Montserrat Hairline" charset="0"/>
              </a:defRPr>
            </a:lvl3pPr>
            <a:lvl4pPr marL="1200108" indent="-171444" defTabSz="685181" fontAlgn="base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FontTx/>
              <a:buBlip>
                <a:blip r:embed="rId4"/>
              </a:buBlip>
              <a:defRPr lang="en-US" sz="700" b="0" i="0">
                <a:latin typeface="Trebuchet MS" panose="020B0703020202090204" pitchFamily="34" charset="0"/>
                <a:ea typeface="Montserrat Hairline" charset="0"/>
                <a:cs typeface="Montserrat Hairline" charset="0"/>
              </a:defRPr>
            </a:lvl4pPr>
            <a:lvl5pPr marL="1542401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dirty="0"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6pPr>
            <a:lvl7pPr marL="222832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146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3965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CA" dirty="0"/>
              <a:t>We participate in the </a:t>
            </a:r>
            <a:r>
              <a:rPr lang="en-CA" b="1" dirty="0"/>
              <a:t>United Nations Global Compact</a:t>
            </a:r>
            <a:r>
              <a:rPr lang="en-CA" dirty="0"/>
              <a:t> and are assessed by </a:t>
            </a:r>
            <a:r>
              <a:rPr lang="en-CA" b="1" dirty="0" err="1"/>
              <a:t>EcoVadis</a:t>
            </a:r>
            <a:r>
              <a:rPr lang="en-CA" dirty="0"/>
              <a:t> in our commitment to driving positive change within our operations and across our business ecosystem. </a:t>
            </a:r>
          </a:p>
        </p:txBody>
      </p:sp>
      <p:pic>
        <p:nvPicPr>
          <p:cNvPr id="2" name="Graphic 1" descr="2024 Ecovadis Sustainability Bronze Award">
            <a:extLst>
              <a:ext uri="{FF2B5EF4-FFF2-40B4-BE49-F238E27FC236}">
                <a16:creationId xmlns:a16="http://schemas.microsoft.com/office/drawing/2014/main" id="{5627EEF9-A4FA-DA40-7B18-5E13572D03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4123" y="3983324"/>
            <a:ext cx="760570" cy="760570"/>
          </a:xfrm>
          <a:prstGeom prst="rect">
            <a:avLst/>
          </a:prstGeom>
        </p:spPr>
      </p:pic>
      <p:pic>
        <p:nvPicPr>
          <p:cNvPr id="4" name="Picture 3" descr="Science Based Targets logo">
            <a:extLst>
              <a:ext uri="{FF2B5EF4-FFF2-40B4-BE49-F238E27FC236}">
                <a16:creationId xmlns:a16="http://schemas.microsoft.com/office/drawing/2014/main" id="{51F667AF-1599-B325-A4D9-039DCA34BA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787" y="4107104"/>
            <a:ext cx="958579" cy="5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62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3A97A36-7E8B-630A-9154-E00E02134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751829" y="1402364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3338BE3-70F7-4058-836D-F93D84C6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2615" y="1396721"/>
            <a:ext cx="1879042" cy="1381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7F0B74A-3C48-BCFA-C039-3B5C3857F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237" y="1402364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1E44BCB0-10FC-C83C-407B-29205D72F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4765" y="1401745"/>
            <a:ext cx="1748413" cy="1325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AF26DF6-EA13-A3BE-7F86-5AF87D717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686" y="1402364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6D187419-32C4-7379-B11C-ACFA00644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6154" y="1426217"/>
            <a:ext cx="1879042" cy="1301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FD50E44-10D0-1A9E-076D-BABE441C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618" y="3146677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0614529-BB31-0400-E38E-BA8CE0CB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4862" y="3140110"/>
            <a:ext cx="1798654" cy="1381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F6BA212-06E9-5076-3625-BE8C3B7F1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2972" y="3146677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20D18647-97CF-108C-EE49-892668F7B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1226" y="3140110"/>
            <a:ext cx="1879042" cy="1381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06E158F-A7A8-5CD9-20B5-4A3CC243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807" y="3146677"/>
            <a:ext cx="1054100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A32AD1C5-39F0-776C-5945-7E3F2E40A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2615" y="3140110"/>
            <a:ext cx="1879042" cy="1381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02820A-1793-5AF5-160B-1BE6EFB5DC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68287"/>
            <a:ext cx="6692900" cy="6963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We Develop and Deliver Products and Solutions </a:t>
            </a:r>
            <a:b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</a:b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for Key Industries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56C36D-F7C9-41F9-EB1D-7A6FAA53E7D8}"/>
              </a:ext>
            </a:extLst>
          </p:cNvPr>
          <p:cNvSpPr/>
          <p:nvPr/>
        </p:nvSpPr>
        <p:spPr>
          <a:xfrm>
            <a:off x="1578804" y="1402364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Government/Public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B3562873-09F3-24C4-581B-D8194DC03199}"/>
              </a:ext>
            </a:extLst>
          </p:cNvPr>
          <p:cNvSpPr txBox="1">
            <a:spLocks/>
          </p:cNvSpPr>
          <p:nvPr/>
        </p:nvSpPr>
        <p:spPr>
          <a:xfrm>
            <a:off x="1682960" y="1773306"/>
            <a:ext cx="171042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170849" indent="-170849" algn="l" defTabSz="685181" rtl="0" eaLnBrk="1" fontAlgn="base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1pPr>
            <a:lvl2pPr marL="513737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0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90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2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46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65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Optimizing government efficiency &amp; public safety for a better life</a:t>
            </a:r>
            <a:endParaRPr kumimoji="0" lang="en-US" altLang="en-US" sz="12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9A364B-F2E9-83AF-225E-1DFFDFFDEFCB}"/>
              </a:ext>
            </a:extLst>
          </p:cNvPr>
          <p:cNvSpPr/>
          <p:nvPr/>
        </p:nvSpPr>
        <p:spPr>
          <a:xfrm>
            <a:off x="4396218" y="1402364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Education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F46976-EB66-3162-B288-9A4224FDCD29}"/>
              </a:ext>
            </a:extLst>
          </p:cNvPr>
          <p:cNvSpPr/>
          <p:nvPr/>
        </p:nvSpPr>
        <p:spPr>
          <a:xfrm>
            <a:off x="4496317" y="1788379"/>
            <a:ext cx="1721784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/>
            <a:r>
              <a:rPr lang="en-US" sz="1200" dirty="0">
                <a:solidFill>
                  <a:schemeClr val="tx2"/>
                </a:solidFill>
                <a:latin typeface="Trebuchet MS" panose="020B0603020202020204"/>
              </a:rPr>
              <a:t>Empowering student success through innovative learning experiences.</a:t>
            </a:r>
            <a:endParaRPr lang="fr-FR" sz="1200" dirty="0">
              <a:solidFill>
                <a:schemeClr val="tx2"/>
              </a:solidFill>
              <a:latin typeface="Trebuchet MS" panose="020B060302020202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E6B0AD-BD4B-85B7-8024-3AAE16E6FFC5}"/>
              </a:ext>
            </a:extLst>
          </p:cNvPr>
          <p:cNvSpPr/>
          <p:nvPr/>
        </p:nvSpPr>
        <p:spPr>
          <a:xfrm>
            <a:off x="7220047" y="1402364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Healthcare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4829EF-2A09-37D1-F985-EDF2E63BE892}"/>
              </a:ext>
            </a:extLst>
          </p:cNvPr>
          <p:cNvSpPr/>
          <p:nvPr/>
        </p:nvSpPr>
        <p:spPr>
          <a:xfrm>
            <a:off x="7312252" y="1788379"/>
            <a:ext cx="172121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/>
            <a:r>
              <a:rPr lang="en-US" sz="1200" dirty="0">
                <a:solidFill>
                  <a:schemeClr val="tx2"/>
                </a:solidFill>
                <a:latin typeface="Trebuchet MS" panose="020B0603020202020204"/>
              </a:rPr>
              <a:t>Optimizing the care pathway for better outcomes </a:t>
            </a:r>
            <a:endParaRPr lang="fr-FR" sz="1200" dirty="0">
              <a:solidFill>
                <a:schemeClr val="tx2"/>
              </a:solidFill>
              <a:latin typeface="Trebuchet MS" panose="020B060302020202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B29496-2A17-78E2-E0F0-B9F6CC2A2CEA}"/>
              </a:ext>
            </a:extLst>
          </p:cNvPr>
          <p:cNvSpPr/>
          <p:nvPr/>
        </p:nvSpPr>
        <p:spPr>
          <a:xfrm>
            <a:off x="1580531" y="3146677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19425530-1B95-0853-B8EF-ABC2D8FE7B6D}"/>
              </a:ext>
            </a:extLst>
          </p:cNvPr>
          <p:cNvSpPr txBox="1">
            <a:spLocks/>
          </p:cNvSpPr>
          <p:nvPr/>
        </p:nvSpPr>
        <p:spPr>
          <a:xfrm>
            <a:off x="1675872" y="3538740"/>
            <a:ext cx="172178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it-IT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603020202020204"/>
              </a:defRPr>
            </a:lvl1pPr>
            <a:lvl2pPr marL="513737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50"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750"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750"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6pPr>
            <a:lvl7pPr marL="222832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146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3965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dirty="0"/>
              <a:t>From connected </a:t>
            </a:r>
          </a:p>
          <a:p>
            <a:r>
              <a:rPr lang="en-US" altLang="en-US" dirty="0"/>
              <a:t>to smart transportation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6BF340-97C8-4A8C-307E-6D9DA588BD7F}"/>
              </a:ext>
            </a:extLst>
          </p:cNvPr>
          <p:cNvSpPr/>
          <p:nvPr/>
        </p:nvSpPr>
        <p:spPr>
          <a:xfrm>
            <a:off x="4411290" y="3146677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Energy &amp; Utilities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21E6CE-C70A-F15E-3A76-7BAD5E7032DE}"/>
              </a:ext>
            </a:extLst>
          </p:cNvPr>
          <p:cNvSpPr/>
          <p:nvPr/>
        </p:nvSpPr>
        <p:spPr>
          <a:xfrm>
            <a:off x="4511390" y="3538741"/>
            <a:ext cx="172178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/>
            <a:r>
              <a:rPr lang="en-US" sz="1200" dirty="0">
                <a:solidFill>
                  <a:schemeClr val="tx2"/>
                </a:solidFill>
                <a:latin typeface="Trebuchet MS" panose="020B0603020202020204"/>
              </a:rPr>
              <a:t>Enabling smarter, safer and greener energy &amp; utilities.</a:t>
            </a:r>
            <a:endParaRPr lang="fr-FR" sz="1200" dirty="0">
              <a:solidFill>
                <a:schemeClr val="tx2"/>
              </a:solidFill>
              <a:latin typeface="Trebuchet MS" panose="020B060302020202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02C0AC-28BB-08CD-257E-7891C304DBEB}"/>
              </a:ext>
            </a:extLst>
          </p:cNvPr>
          <p:cNvSpPr/>
          <p:nvPr/>
        </p:nvSpPr>
        <p:spPr>
          <a:xfrm>
            <a:off x="7235687" y="3146677"/>
            <a:ext cx="1721784" cy="301752"/>
          </a:xfrm>
          <a:prstGeom prst="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anchor="t"/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Hospitality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63D99-B66A-080D-6B23-E2AED969B595}"/>
              </a:ext>
            </a:extLst>
          </p:cNvPr>
          <p:cNvSpPr/>
          <p:nvPr/>
        </p:nvSpPr>
        <p:spPr>
          <a:xfrm>
            <a:off x="7347421" y="3538741"/>
            <a:ext cx="156044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/>
            <a:r>
              <a:rPr lang="en-US" sz="1200" dirty="0">
                <a:solidFill>
                  <a:schemeClr val="tx2"/>
                </a:solidFill>
                <a:latin typeface="Trebuchet MS" panose="020B0603020202020204"/>
              </a:rPr>
              <a:t>Empowering staff digital services to deliver enhanced guest experiences</a:t>
            </a:r>
            <a:endParaRPr lang="fr-FR" sz="1200" dirty="0">
              <a:solidFill>
                <a:schemeClr val="tx2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3243433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9C4EDBD-1559-BF81-C3F6-7F335F47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4279900" cy="331788"/>
          </a:xfrm>
        </p:spPr>
        <p:txBody>
          <a:bodyPr/>
          <a:lstStyle/>
          <a:p>
            <a:r>
              <a:rPr lang="en-GB" dirty="0"/>
              <a:t>Our Most Comprehensive Communication Portfolio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0B2DCF-15D6-5CBC-4BB7-545844BE2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448" y="1201231"/>
            <a:ext cx="4252898" cy="2246769"/>
          </a:xfrm>
        </p:spPr>
        <p:txBody>
          <a:bodyPr/>
          <a:lstStyle/>
          <a:p>
            <a:r>
              <a:rPr lang="en-GB" dirty="0"/>
              <a:t>Our innovative and unique communications portfolio allows organization of all sizes to choose the best options for their business.</a:t>
            </a:r>
          </a:p>
          <a:p>
            <a:r>
              <a:rPr lang="en-GB" dirty="0"/>
              <a:t>You decide on the business model – CAPEX, subscription, or pay-per-use.</a:t>
            </a:r>
          </a:p>
          <a:p>
            <a:r>
              <a:rPr lang="en-GB" dirty="0"/>
              <a:t>You decide on your business implementation model – on-premises, cloud or hybrid.</a:t>
            </a:r>
          </a:p>
          <a:p>
            <a:r>
              <a:rPr lang="en-GB" dirty="0"/>
              <a:t>Our solutions seamlessly integrate with business applications, fostering IT and OT convergence.</a:t>
            </a:r>
            <a:endParaRPr lang="fr-FR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B44A54-302A-44FC-3394-71DBD21C7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53024" y="736693"/>
            <a:ext cx="2653290" cy="3593024"/>
            <a:chOff x="5753024" y="736693"/>
            <a:chExt cx="2653290" cy="3593024"/>
          </a:xfrm>
        </p:grpSpPr>
        <p:pic>
          <p:nvPicPr>
            <p:cNvPr id="20" name="Picture 19" descr="A group of people sitting around a table&#10;&#10;Description automatically generated">
              <a:extLst>
                <a:ext uri="{FF2B5EF4-FFF2-40B4-BE49-F238E27FC236}">
                  <a16:creationId xmlns:a16="http://schemas.microsoft.com/office/drawing/2014/main" id="{85D3E945-D074-5E82-7574-62965D85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3024" y="736693"/>
              <a:ext cx="2653289" cy="3593024"/>
            </a:xfrm>
            <a:prstGeom prst="roundRect">
              <a:avLst>
                <a:gd name="adj" fmla="val 3397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1" name="Picture 20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DE3742A9-B619-5901-1F17-6DDADB2FB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55575" y="1678770"/>
              <a:ext cx="2650739" cy="2650739"/>
            </a:xfrm>
            <a:prstGeom prst="roundRect">
              <a:avLst>
                <a:gd name="adj" fmla="val 3096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72005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01B76E-8F02-0379-65BB-3FE66098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743825" cy="331788"/>
          </a:xfrm>
        </p:spPr>
        <p:txBody>
          <a:bodyPr/>
          <a:lstStyle/>
          <a:p>
            <a:r>
              <a:rPr lang="fr-FR" dirty="0"/>
              <a:t>Our Networks </a:t>
            </a:r>
            <a:r>
              <a:rPr lang="fr-FR" dirty="0" err="1"/>
              <a:t>Offer</a:t>
            </a:r>
            <a:r>
              <a:rPr lang="fr-FR" dirty="0"/>
              <a:t> an Optimal User E</a:t>
            </a:r>
            <a:r>
              <a:rPr lang="fr-FR" dirty="0" err="1"/>
              <a:t>xperience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A6ADE52-51CB-EA49-6DE9-08B059B8D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3128" y="1248121"/>
            <a:ext cx="4566706" cy="2713563"/>
          </a:xfrm>
        </p:spPr>
        <p:txBody>
          <a:bodyPr/>
          <a:lstStyle/>
          <a:p>
            <a:r>
              <a:rPr lang="en-GB" dirty="0"/>
              <a:t>We deliver mission-critical AI-powered and automated networks, ensuring a high-quality user experience. </a:t>
            </a:r>
            <a:endParaRPr lang="fr-FR" dirty="0"/>
          </a:p>
          <a:p>
            <a:r>
              <a:rPr lang="en-GB" dirty="0"/>
              <a:t>We support extensive IoT use with secure connectivity through a Zero Trust Network.</a:t>
            </a:r>
          </a:p>
          <a:p>
            <a:r>
              <a:rPr lang="en-GB" dirty="0"/>
              <a:t>Our AI-embedded solutions allow organizations to make operational efficiencies safely.</a:t>
            </a:r>
            <a:endParaRPr lang="fr-FR" dirty="0"/>
          </a:p>
          <a:p>
            <a:r>
              <a:rPr lang="en-GB" dirty="0"/>
              <a:t>Our network solutions seamlessly integrate with business applications, fostering IT and OT convergence.</a:t>
            </a:r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02234A-229F-FD9B-E1C4-63DC15EEF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5650" y="871185"/>
            <a:ext cx="2492224" cy="3738336"/>
            <a:chOff x="755650" y="871185"/>
            <a:chExt cx="2492224" cy="3738336"/>
          </a:xfrm>
        </p:grpSpPr>
        <p:pic>
          <p:nvPicPr>
            <p:cNvPr id="13" name="Picture 12" descr="A person holding a tablet&#10;&#10;Description automatically generated">
              <a:extLst>
                <a:ext uri="{FF2B5EF4-FFF2-40B4-BE49-F238E27FC236}">
                  <a16:creationId xmlns:a16="http://schemas.microsoft.com/office/drawing/2014/main" id="{A76912E4-1057-0264-A4A4-F21DF13E3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755650" y="871185"/>
              <a:ext cx="2492224" cy="3738336"/>
            </a:xfrm>
            <a:prstGeom prst="roundRect">
              <a:avLst>
                <a:gd name="adj" fmla="val 6603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4" name="Picture 13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648E0813-D914-D53F-5BFF-27930AD854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774"/>
            <a:stretch/>
          </p:blipFill>
          <p:spPr>
            <a:xfrm flipH="1">
              <a:off x="765864" y="1975427"/>
              <a:ext cx="2482010" cy="2634094"/>
            </a:xfrm>
            <a:prstGeom prst="roundRect">
              <a:avLst>
                <a:gd name="adj" fmla="val 6520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6098530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E2F0-34B7-02F5-B569-217D2562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4574C6C-936B-C142-9330-57D0100B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4279900" cy="331788"/>
          </a:xfrm>
        </p:spPr>
        <p:txBody>
          <a:bodyPr/>
          <a:lstStyle/>
          <a:p>
            <a:r>
              <a:rPr lang="fr-FR" dirty="0"/>
              <a:t>Our Solutions are Secure and Compliant by Design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EFEF671-7757-F129-8C5D-CD2BE13DA7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448" y="1209046"/>
            <a:ext cx="4252898" cy="2713563"/>
          </a:xfrm>
        </p:spPr>
        <p:txBody>
          <a:bodyPr/>
          <a:lstStyle/>
          <a:p>
            <a:r>
              <a:rPr lang="en-CA" altLang="ja-JP" dirty="0"/>
              <a:t>Our highly secure solutions ensure strict data privacy, compliant with country and industry regulation.</a:t>
            </a:r>
          </a:p>
          <a:p>
            <a:r>
              <a:rPr lang="en-CA" dirty="0"/>
              <a:t>Our solutions are fully compliant with data protection requirements of organizations and individuals at a national sovereignty and international/Europe industry level. </a:t>
            </a:r>
          </a:p>
          <a:p>
            <a:r>
              <a:rPr lang="en-CA" dirty="0"/>
              <a:t>We are committed to open standards and smooth integration with other IT systems.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3C51E4-0A56-91A9-8808-150C998C4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5651" y="716489"/>
            <a:ext cx="2676526" cy="3575729"/>
            <a:chOff x="5735651" y="716489"/>
            <a:chExt cx="2676526" cy="3575729"/>
          </a:xfrm>
        </p:grpSpPr>
        <p:pic>
          <p:nvPicPr>
            <p:cNvPr id="16" name="Picture 15" descr="A person looking at a computer screen&#10;&#10;Description automatically generated">
              <a:extLst>
                <a:ext uri="{FF2B5EF4-FFF2-40B4-BE49-F238E27FC236}">
                  <a16:creationId xmlns:a16="http://schemas.microsoft.com/office/drawing/2014/main" id="{CCB59F7A-8FC0-B89B-E0DE-AF8FC0497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042" r="18488"/>
            <a:stretch/>
          </p:blipFill>
          <p:spPr>
            <a:xfrm>
              <a:off x="5735651" y="716489"/>
              <a:ext cx="2676526" cy="3575729"/>
            </a:xfrm>
            <a:prstGeom prst="roundRect">
              <a:avLst>
                <a:gd name="adj" fmla="val 5021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7" name="Picture 16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9CF1AFF1-DA24-20F2-1DAA-5E2042062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35651" y="1658124"/>
              <a:ext cx="2676526" cy="2634094"/>
            </a:xfrm>
            <a:prstGeom prst="roundRect">
              <a:avLst>
                <a:gd name="adj" fmla="val 4818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65324100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60B1-ED1F-3ED0-DE5A-AFE3E2D8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78FF7B-76AB-1A54-2E91-8600B3F1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13695"/>
          <a:stretch/>
        </p:blipFill>
        <p:spPr>
          <a:xfrm>
            <a:off x="1252204" y="0"/>
            <a:ext cx="7891796" cy="51435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7649473-14A4-9248-BF6C-7DBDEC18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61" y="268288"/>
            <a:ext cx="7705725" cy="331787"/>
          </a:xfrm>
        </p:spPr>
        <p:txBody>
          <a:bodyPr/>
          <a:lstStyle/>
          <a:p>
            <a:r>
              <a:rPr lang="en-CA" dirty="0"/>
              <a:t>We Support our Customers’ Business Goals 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5E5F48-DAEB-2D6D-595A-213643D1E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208447"/>
            <a:ext cx="2922653" cy="2066925"/>
          </a:xfrm>
        </p:spPr>
        <p:txBody>
          <a:bodyPr/>
          <a:lstStyle/>
          <a:p>
            <a:r>
              <a:rPr lang="en-CA" altLang="ja-JP" dirty="0"/>
              <a:t>You choose your business implementation model – on premises, cloud and hybrid.</a:t>
            </a:r>
          </a:p>
          <a:p>
            <a:r>
              <a:rPr lang="en-CA" altLang="ja-JP" dirty="0"/>
              <a:t>You decide which business model –  license, subscription, pay per use.</a:t>
            </a:r>
            <a:endParaRPr lang="en-CA" dirty="0"/>
          </a:p>
          <a:p>
            <a:r>
              <a:rPr lang="en-CA" dirty="0"/>
              <a:t>Our AI-embedded Products &amp; Services allow you to make real operational efficiencies.</a:t>
            </a:r>
          </a:p>
        </p:txBody>
      </p:sp>
    </p:spTree>
    <p:extLst>
      <p:ext uri="{BB962C8B-B14F-4D97-AF65-F5344CB8AC3E}">
        <p14:creationId xmlns:p14="http://schemas.microsoft.com/office/powerpoint/2010/main" val="16758312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8CF08A7-05E9-C673-6B0F-EC259792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8288"/>
            <a:ext cx="7744409" cy="332399"/>
          </a:xfrm>
        </p:spPr>
        <p:txBody>
          <a:bodyPr/>
          <a:lstStyle/>
          <a:p>
            <a:r>
              <a:rPr lang="en-US" dirty="0"/>
              <a:t>We Provide Industry-tailored Services - 1</a:t>
            </a:r>
            <a:endParaRPr lang="en-US"/>
          </a:p>
        </p:txBody>
      </p:sp>
      <p:sp>
        <p:nvSpPr>
          <p:cNvPr id="4" name="Espace réservé du texte 51">
            <a:extLst>
              <a:ext uri="{FF2B5EF4-FFF2-40B4-BE49-F238E27FC236}">
                <a16:creationId xmlns:a16="http://schemas.microsoft.com/office/drawing/2014/main" id="{82F2F111-927D-ADE7-60C2-D081E8150751}"/>
              </a:ext>
            </a:extLst>
          </p:cNvPr>
          <p:cNvSpPr txBox="1">
            <a:spLocks/>
          </p:cNvSpPr>
          <p:nvPr/>
        </p:nvSpPr>
        <p:spPr>
          <a:xfrm>
            <a:off x="760674" y="884432"/>
            <a:ext cx="7711242" cy="4431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0849" indent="-170849" algn="l" defTabSz="685181" rtl="0" eaLnBrk="1" fontAlgn="base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1pPr>
            <a:lvl2pPr marL="513737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0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90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2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46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65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solidFill>
                  <a:schemeClr val="tx2"/>
                </a:solidFill>
                <a:latin typeface="Trebuchet MS" panose="020B0703020202090204" pitchFamily="34" charset="0"/>
              </a:rPr>
              <a:t>We enable organizations to transform, maximizing technology adoption, productivity, return on investment and security.</a:t>
            </a:r>
            <a:endParaRPr lang="fr-FR" sz="1600" dirty="0">
              <a:solidFill>
                <a:schemeClr val="tx2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EF75A-A1BB-62AD-2A45-DF666492D277}"/>
              </a:ext>
            </a:extLst>
          </p:cNvPr>
          <p:cNvSpPr/>
          <p:nvPr/>
        </p:nvSpPr>
        <p:spPr>
          <a:xfrm>
            <a:off x="754380" y="1493419"/>
            <a:ext cx="2514600" cy="1000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Customer Care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Human support 24/7 solving your queries in real-time</a:t>
            </a:r>
            <a:endParaRPr kumimoji="0" lang="fr-FR" sz="14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70302020209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005E7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55E2D-D056-4BB4-4D42-996B8F8FB30A}"/>
              </a:ext>
            </a:extLst>
          </p:cNvPr>
          <p:cNvSpPr/>
          <p:nvPr/>
        </p:nvSpPr>
        <p:spPr>
          <a:xfrm>
            <a:off x="3506724" y="1493419"/>
            <a:ext cx="2514600" cy="1000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Managed Services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Supporting and maintaining your technology infrastructure to meet agreed SLAs.</a:t>
            </a:r>
            <a:endParaRPr kumimoji="0" lang="fr-FR" sz="14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70302020209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BD2795-5C6E-AE6B-562C-DCB89CDAF705}"/>
              </a:ext>
            </a:extLst>
          </p:cNvPr>
          <p:cNvSpPr/>
          <p:nvPr/>
        </p:nvSpPr>
        <p:spPr>
          <a:xfrm>
            <a:off x="6213348" y="1493419"/>
            <a:ext cx="2537361" cy="1245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Professional Services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Experts supporting your teams to tailor and deliver technology projects, from concept to successful implementation.</a:t>
            </a:r>
            <a:endParaRPr kumimoji="0" lang="fr-FR" sz="14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70302020209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BBE2F3-09C1-866B-E6B3-C3AB90956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2541" y="3190651"/>
            <a:ext cx="4979643" cy="1602930"/>
            <a:chOff x="800099" y="3027172"/>
            <a:chExt cx="6275217" cy="2456535"/>
          </a:xfrm>
        </p:grpSpPr>
        <p:pic>
          <p:nvPicPr>
            <p:cNvPr id="12" name="Picture 11" descr="A group of people clapping hands&#10;&#10;Description automatically generated">
              <a:extLst>
                <a:ext uri="{FF2B5EF4-FFF2-40B4-BE49-F238E27FC236}">
                  <a16:creationId xmlns:a16="http://schemas.microsoft.com/office/drawing/2014/main" id="{72B811DA-2E75-2711-1773-A459F565E2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0099" y="3034429"/>
              <a:ext cx="6275217" cy="244927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3" name="Picture 12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286CFC54-034F-C79A-5825-0707D6ACD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6200000">
              <a:off x="4626037" y="3027172"/>
              <a:ext cx="2449279" cy="2449279"/>
            </a:xfrm>
            <a:prstGeom prst="roundRect">
              <a:avLst>
                <a:gd name="adj" fmla="val 8594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354100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E507-2CEF-C2A0-DB3A-3E1B292D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AFB7F9-33AB-4DE8-85EF-63999DC3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8288"/>
            <a:ext cx="7744409" cy="664797"/>
          </a:xfrm>
        </p:spPr>
        <p:txBody>
          <a:bodyPr/>
          <a:lstStyle/>
          <a:p>
            <a:r>
              <a:rPr lang="en-US" dirty="0"/>
              <a:t>We Provide Industry-tailored Services - 2</a:t>
            </a:r>
            <a:br>
              <a:rPr lang="en-US" dirty="0"/>
            </a:br>
            <a:endParaRPr lang="en-US" dirty="0"/>
          </a:p>
        </p:txBody>
      </p:sp>
      <p:sp>
        <p:nvSpPr>
          <p:cNvPr id="17" name="Espace réservé du texte 51">
            <a:extLst>
              <a:ext uri="{FF2B5EF4-FFF2-40B4-BE49-F238E27FC236}">
                <a16:creationId xmlns:a16="http://schemas.microsoft.com/office/drawing/2014/main" id="{869B5D60-0540-2487-C524-622942D1FAC9}"/>
              </a:ext>
            </a:extLst>
          </p:cNvPr>
          <p:cNvSpPr txBox="1">
            <a:spLocks/>
          </p:cNvSpPr>
          <p:nvPr/>
        </p:nvSpPr>
        <p:spPr>
          <a:xfrm>
            <a:off x="758952" y="886968"/>
            <a:ext cx="7627521" cy="601210"/>
          </a:xfrm>
          <a:prstGeom prst="rect">
            <a:avLst/>
          </a:prstGeom>
        </p:spPr>
        <p:txBody>
          <a:bodyPr lIns="0" tIns="0" rIns="0"/>
          <a:lstStyle>
            <a:lvl1pPr marL="170849" indent="-170849" algn="l" defTabSz="685181" rtl="0" eaLnBrk="1" fontAlgn="base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1pPr>
            <a:lvl2pPr marL="513737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0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90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2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46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65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solidFill>
                  <a:schemeClr val="tx2"/>
                </a:solidFill>
                <a:latin typeface="Trebuchet MS" panose="020B0703020202090204" pitchFamily="34" charset="0"/>
              </a:rPr>
              <a:t>We enable organizations to transform, maximizing technology adoption, productivity, return on investment and security.</a:t>
            </a:r>
            <a:endParaRPr lang="fr-FR" sz="1600" dirty="0">
              <a:solidFill>
                <a:schemeClr val="tx2"/>
              </a:solidFill>
              <a:latin typeface="Trebuchet MS" panose="020B0703020202090204" pitchFamily="34" charset="0"/>
            </a:endParaRPr>
          </a:p>
          <a:p>
            <a:endParaRPr lang="fr-FR" sz="1100" dirty="0">
              <a:solidFill>
                <a:schemeClr val="tx2"/>
              </a:solidFill>
              <a:latin typeface="Trebuchet MS" panose="020B070302020209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B590C3-CBE7-8DEF-B4EA-9F25929309DF}"/>
              </a:ext>
            </a:extLst>
          </p:cNvPr>
          <p:cNvSpPr/>
          <p:nvPr/>
        </p:nvSpPr>
        <p:spPr>
          <a:xfrm>
            <a:off x="762000" y="1488035"/>
            <a:ext cx="2514600" cy="143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Training Services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Enhancing your teams’ skills and knowledge to benefit from technology adoption and optimal usage</a:t>
            </a:r>
          </a:p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2C422-7577-086E-49B4-F346FC19916E}"/>
              </a:ext>
            </a:extLst>
          </p:cNvPr>
          <p:cNvSpPr/>
          <p:nvPr/>
        </p:nvSpPr>
        <p:spPr>
          <a:xfrm>
            <a:off x="3509010" y="1488035"/>
            <a:ext cx="2514600" cy="1215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Customer Success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Helping customers to optimize adoption and usage with best practices for maximum business value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29478-8E85-7A5C-C8B6-CA46EFA5B4C6}"/>
              </a:ext>
            </a:extLst>
          </p:cNvPr>
          <p:cNvSpPr/>
          <p:nvPr/>
        </p:nvSpPr>
        <p:spPr>
          <a:xfrm>
            <a:off x="6217919" y="1488034"/>
            <a:ext cx="2686131" cy="1646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spAutoFit/>
          </a:bodyPr>
          <a:lstStyle/>
          <a:p>
            <a:pPr marL="0" marR="0" lvl="0" indent="0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Consulting Services</a:t>
            </a:r>
          </a:p>
          <a:p>
            <a:pPr>
              <a:defRPr/>
            </a:pP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Our industry experts work </a:t>
            </a:r>
            <a:b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</a:b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hand-in-hand with your teams </a:t>
            </a:r>
            <a:b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</a:br>
            <a:r>
              <a:rPr kumimoji="0" lang="en-GB" sz="14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rebuchet MS" panose="020B070302020209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to design and implement specialized solutions and services, helping you achieve maximum Return on Investment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ED9F66-D118-7E3E-44DA-A24F99FB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2541" y="3190651"/>
            <a:ext cx="4970184" cy="1673861"/>
            <a:chOff x="792296" y="3182700"/>
            <a:chExt cx="4970184" cy="1673861"/>
          </a:xfrm>
        </p:grpSpPr>
        <p:pic>
          <p:nvPicPr>
            <p:cNvPr id="21" name="Picture 20" descr="A group of people sitting around a table looking at a computer&#10;&#10;Description automatically generated">
              <a:extLst>
                <a:ext uri="{FF2B5EF4-FFF2-40B4-BE49-F238E27FC236}">
                  <a16:creationId xmlns:a16="http://schemas.microsoft.com/office/drawing/2014/main" id="{5F0F9BC7-DB7C-9182-62E3-F67677DF94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2296" y="3182700"/>
              <a:ext cx="4970184" cy="167386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2" name="Picture 21" descr="A purple and black background&#10;&#10;Description automatically generated">
              <a:extLst>
                <a:ext uri="{FF2B5EF4-FFF2-40B4-BE49-F238E27FC236}">
                  <a16:creationId xmlns:a16="http://schemas.microsoft.com/office/drawing/2014/main" id="{51476419-B448-FA12-9EF4-FF5A1075C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2296" y="3260075"/>
              <a:ext cx="1596486" cy="1596486"/>
            </a:xfrm>
            <a:prstGeom prst="roundRect">
              <a:avLst>
                <a:gd name="adj" fmla="val 8594"/>
              </a:avLst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57177104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AE0ABD-FC22-A0FC-25CB-51B091ED8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68939A2-3E82-0FC5-75D3-CB2201FF4B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71454"/>
            <a:ext cx="6692900" cy="3323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What Market Experts Say About Us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grpSp>
        <p:nvGrpSpPr>
          <p:cNvPr id="4" name="Group 3" descr="Gartner:  ALE Strengths - Campus networking fabric: Clients in ALE’s key target verticals (government, healthcare, transportation and education) looking for simplified management and streamlined automation will benefit from ALE’s fabric architecture and industry specific expertise&#10;Magic Quadrant for Enterprise Wired and &#10;Wireless LAN Infrastructure – March 2024">
            <a:extLst>
              <a:ext uri="{FF2B5EF4-FFF2-40B4-BE49-F238E27FC236}">
                <a16:creationId xmlns:a16="http://schemas.microsoft.com/office/drawing/2014/main" id="{EA53EAF2-546E-1F67-F0CC-BA773476480D}"/>
              </a:ext>
            </a:extLst>
          </p:cNvPr>
          <p:cNvGrpSpPr/>
          <p:nvPr/>
        </p:nvGrpSpPr>
        <p:grpSpPr>
          <a:xfrm>
            <a:off x="753176" y="852060"/>
            <a:ext cx="4153211" cy="1725216"/>
            <a:chOff x="753176" y="852060"/>
            <a:chExt cx="4153211" cy="172521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D736ED-C5B5-BF65-BBC3-1BCC497D8C6B}"/>
                </a:ext>
              </a:extLst>
            </p:cNvPr>
            <p:cNvSpPr txBox="1"/>
            <p:nvPr/>
          </p:nvSpPr>
          <p:spPr>
            <a:xfrm>
              <a:off x="753176" y="852060"/>
              <a:ext cx="4153211" cy="1725216"/>
            </a:xfrm>
            <a:prstGeom prst="roundRect">
              <a:avLst>
                <a:gd name="adj" fmla="val 8990"/>
              </a:avLst>
            </a:prstGeom>
            <a:solidFill>
              <a:schemeClr val="bg1"/>
            </a:solidFill>
            <a:ln w="12700"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br>
                <a:rPr lang="en-US" sz="800" i="1" dirty="0">
                  <a:solidFill>
                    <a:schemeClr val="tx2">
                      <a:lumMod val="50000"/>
                    </a:schemeClr>
                  </a:solidFill>
                </a:rPr>
              </a:br>
              <a:b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</a:b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ALE Strengths - Campus networking fabric: Clients in ALE’s key target verticals (government, healthcare, transportation and education) looking for simplified management and streamlined automation will benefit from ALE’s fabric architecture and industry specific expertise</a:t>
              </a:r>
            </a:p>
            <a:p>
              <a:r>
                <a:rPr lang="en-US" sz="1000" dirty="0"/>
                <a:t>Magic Quadrant for Enterprise Wired and </a:t>
              </a:r>
              <a:br>
                <a:rPr lang="en-US" sz="1000" dirty="0"/>
              </a:br>
              <a:r>
                <a:rPr lang="en-US" sz="1000" dirty="0"/>
                <a:t>Wireless LAN Infrastructure – March 2024</a:t>
              </a:r>
            </a:p>
          </p:txBody>
        </p:sp>
        <p:pic>
          <p:nvPicPr>
            <p:cNvPr id="10" name="Picture 9" descr="Gartner logo">
              <a:extLst>
                <a:ext uri="{FF2B5EF4-FFF2-40B4-BE49-F238E27FC236}">
                  <a16:creationId xmlns:a16="http://schemas.microsoft.com/office/drawing/2014/main" id="{009D7013-9839-5DC3-1F57-BDB4AB4766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4994" y="947494"/>
              <a:ext cx="825752" cy="219804"/>
            </a:xfrm>
            <a:prstGeom prst="rect">
              <a:avLst/>
            </a:prstGeom>
          </p:spPr>
        </p:pic>
      </p:grpSp>
      <p:grpSp>
        <p:nvGrpSpPr>
          <p:cNvPr id="7" name="Group 6" descr="IDC:  Alcatel-Lucent Enterprise is positioned in the Major Players category in the 2023 IDC MarketScape for worldwide communications platform as a service&#10;IDC MarketScape: Worldwide Communications Platform as a Service 2023 Vendor Assessment – May 2023">
            <a:extLst>
              <a:ext uri="{FF2B5EF4-FFF2-40B4-BE49-F238E27FC236}">
                <a16:creationId xmlns:a16="http://schemas.microsoft.com/office/drawing/2014/main" id="{97B0F9F3-6756-A675-38F4-CE396707D70C}"/>
              </a:ext>
            </a:extLst>
          </p:cNvPr>
          <p:cNvGrpSpPr/>
          <p:nvPr/>
        </p:nvGrpSpPr>
        <p:grpSpPr>
          <a:xfrm>
            <a:off x="5183787" y="849389"/>
            <a:ext cx="3707963" cy="1481644"/>
            <a:chOff x="5183787" y="849389"/>
            <a:chExt cx="3707963" cy="148164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D59217-B803-F499-B9AD-243EEBF686E1}"/>
                </a:ext>
              </a:extLst>
            </p:cNvPr>
            <p:cNvSpPr txBox="1"/>
            <p:nvPr/>
          </p:nvSpPr>
          <p:spPr>
            <a:xfrm>
              <a:off x="5183787" y="849389"/>
              <a:ext cx="3707963" cy="1481644"/>
            </a:xfrm>
            <a:prstGeom prst="roundRect">
              <a:avLst>
                <a:gd name="adj" fmla="val 8362"/>
              </a:avLst>
            </a:prstGeom>
            <a:solidFill>
              <a:schemeClr val="bg1"/>
            </a:solidFill>
            <a:ln w="12700"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100" i="1" dirty="0">
                <a:solidFill>
                  <a:schemeClr val="tx2">
                    <a:lumMod val="50000"/>
                  </a:schemeClr>
                </a:solidFill>
              </a:endParaRPr>
            </a:p>
            <a:p>
              <a:pPr>
                <a:spcAft>
                  <a:spcPts val="600"/>
                </a:spcAft>
              </a:pPr>
              <a:b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</a:b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Alcatel-Lucent Enterprise is positioned in the Major Players category in the 2023 IDC </a:t>
              </a:r>
              <a:r>
                <a:rPr lang="en-US" sz="1100" i="1" dirty="0" err="1">
                  <a:solidFill>
                    <a:schemeClr val="tx2">
                      <a:lumMod val="50000"/>
                    </a:schemeClr>
                  </a:solidFill>
                </a:rPr>
                <a:t>MarketScape</a:t>
              </a: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 for worldwide communications platform as a service</a:t>
              </a:r>
            </a:p>
            <a:p>
              <a:r>
                <a:rPr lang="en-US" sz="1000" dirty="0"/>
                <a:t>IDC </a:t>
              </a:r>
              <a:r>
                <a:rPr lang="en-US" sz="1000" dirty="0" err="1"/>
                <a:t>MarketScape</a:t>
              </a:r>
              <a:r>
                <a:rPr lang="en-US" sz="1000" dirty="0"/>
                <a:t>: Worldwide Communications Platform as a Service 2023 Vendor Assessment – May 2023</a:t>
              </a:r>
              <a:endParaRPr lang="en-US" sz="1100" dirty="0"/>
            </a:p>
          </p:txBody>
        </p:sp>
        <p:pic>
          <p:nvPicPr>
            <p:cNvPr id="6" name="Picture 5" descr="IDC logo">
              <a:extLst>
                <a:ext uri="{FF2B5EF4-FFF2-40B4-BE49-F238E27FC236}">
                  <a16:creationId xmlns:a16="http://schemas.microsoft.com/office/drawing/2014/main" id="{4679A743-4291-AF00-0736-F89BC5D71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08259" y="957850"/>
              <a:ext cx="887632" cy="320936"/>
            </a:xfrm>
            <a:prstGeom prst="rect">
              <a:avLst/>
            </a:prstGeom>
          </p:spPr>
        </p:pic>
      </p:grpSp>
      <p:grpSp>
        <p:nvGrpSpPr>
          <p:cNvPr id="8" name="Group 7" descr="GlobalData: Product Portfolio Rating: Very Strong&#10;Alcatel-Lucent Enterprise - Collaboration and Communications – &#10;March 2024">
            <a:extLst>
              <a:ext uri="{FF2B5EF4-FFF2-40B4-BE49-F238E27FC236}">
                <a16:creationId xmlns:a16="http://schemas.microsoft.com/office/drawing/2014/main" id="{10524BA9-076D-264F-BBB6-27C8F09BF981}"/>
              </a:ext>
            </a:extLst>
          </p:cNvPr>
          <p:cNvGrpSpPr/>
          <p:nvPr/>
        </p:nvGrpSpPr>
        <p:grpSpPr>
          <a:xfrm>
            <a:off x="753176" y="2821498"/>
            <a:ext cx="1851875" cy="1515308"/>
            <a:chOff x="753176" y="2821498"/>
            <a:chExt cx="1851875" cy="15153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CBF7DD-28B7-A450-1EED-B009167E93E6}"/>
                </a:ext>
              </a:extLst>
            </p:cNvPr>
            <p:cNvSpPr txBox="1"/>
            <p:nvPr/>
          </p:nvSpPr>
          <p:spPr>
            <a:xfrm>
              <a:off x="753176" y="2821498"/>
              <a:ext cx="1851875" cy="1515308"/>
            </a:xfrm>
            <a:prstGeom prst="roundRect">
              <a:avLst>
                <a:gd name="adj" fmla="val 10441"/>
              </a:avLst>
            </a:prstGeom>
            <a:solidFill>
              <a:schemeClr val="bg1"/>
            </a:solidFill>
            <a:ln w="12700"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100" i="1" dirty="0">
                <a:solidFill>
                  <a:schemeClr val="tx2">
                    <a:lumMod val="50000"/>
                  </a:schemeClr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Product Portfolio Rating: Very Strong</a:t>
              </a:r>
            </a:p>
            <a:p>
              <a:r>
                <a:rPr lang="en-US" sz="1000" dirty="0"/>
                <a:t>Alcatel-Lucent Enterprise - Collaboration and Communications – </a:t>
              </a:r>
              <a:br>
                <a:rPr lang="en-US" sz="1000" dirty="0"/>
              </a:br>
              <a:r>
                <a:rPr lang="en-US" sz="1000" dirty="0"/>
                <a:t>March 2024</a:t>
              </a:r>
            </a:p>
          </p:txBody>
        </p:sp>
        <p:pic>
          <p:nvPicPr>
            <p:cNvPr id="25" name="Picture 24" descr="GlobalData logo">
              <a:extLst>
                <a:ext uri="{FF2B5EF4-FFF2-40B4-BE49-F238E27FC236}">
                  <a16:creationId xmlns:a16="http://schemas.microsoft.com/office/drawing/2014/main" id="{C12FB2FF-3ABA-50ED-0217-8C3B9F2713D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7503" b="41926"/>
            <a:stretch/>
          </p:blipFill>
          <p:spPr>
            <a:xfrm>
              <a:off x="860029" y="2874384"/>
              <a:ext cx="1192378" cy="245290"/>
            </a:xfrm>
            <a:prstGeom prst="rect">
              <a:avLst/>
            </a:prstGeom>
          </p:spPr>
        </p:pic>
      </p:grpSp>
      <p:grpSp>
        <p:nvGrpSpPr>
          <p:cNvPr id="9" name="Group 8" descr="Omdia: Rainbow is a truly sovereign and fully open communications service.&#10;Omdia Universe: Unified Communications as a Service (UCaaS), 2023 – March 2023">
            <a:extLst>
              <a:ext uri="{FF2B5EF4-FFF2-40B4-BE49-F238E27FC236}">
                <a16:creationId xmlns:a16="http://schemas.microsoft.com/office/drawing/2014/main" id="{42B0E68F-6910-7B6F-D277-C6A60A8BF9F1}"/>
              </a:ext>
            </a:extLst>
          </p:cNvPr>
          <p:cNvGrpSpPr/>
          <p:nvPr/>
        </p:nvGrpSpPr>
        <p:grpSpPr>
          <a:xfrm>
            <a:off x="2876055" y="2821498"/>
            <a:ext cx="2070018" cy="1478756"/>
            <a:chOff x="2876055" y="2821498"/>
            <a:chExt cx="2070018" cy="147875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B3B064-3F76-BA21-1418-F8B24D539076}"/>
                </a:ext>
              </a:extLst>
            </p:cNvPr>
            <p:cNvSpPr txBox="1"/>
            <p:nvPr/>
          </p:nvSpPr>
          <p:spPr>
            <a:xfrm>
              <a:off x="2876055" y="2821498"/>
              <a:ext cx="2070018" cy="1478756"/>
            </a:xfrm>
            <a:prstGeom prst="roundRect">
              <a:avLst>
                <a:gd name="adj" fmla="val 8417"/>
              </a:avLst>
            </a:prstGeom>
            <a:solidFill>
              <a:schemeClr val="bg1"/>
            </a:solidFill>
            <a:ln w="12700"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100" i="1" dirty="0">
                <a:solidFill>
                  <a:schemeClr val="tx2">
                    <a:lumMod val="50000"/>
                  </a:schemeClr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Rainbow is a truly sovereign and fully open communications service.</a:t>
              </a:r>
            </a:p>
            <a:p>
              <a:r>
                <a:rPr lang="en-US" sz="1000" dirty="0" err="1"/>
                <a:t>Omdia</a:t>
              </a:r>
              <a:r>
                <a:rPr lang="en-US" sz="1000" dirty="0"/>
                <a:t> Universe: Unified Communications as a Service (UCaaS), 2023 – March 2023</a:t>
              </a:r>
            </a:p>
          </p:txBody>
        </p:sp>
        <p:pic>
          <p:nvPicPr>
            <p:cNvPr id="12" name="Picture 11" descr="Omdia logo">
              <a:extLst>
                <a:ext uri="{FF2B5EF4-FFF2-40B4-BE49-F238E27FC236}">
                  <a16:creationId xmlns:a16="http://schemas.microsoft.com/office/drawing/2014/main" id="{EA352C46-BA16-DDCB-E016-8F3F12EFE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07652" y="2921086"/>
              <a:ext cx="684997" cy="147944"/>
            </a:xfrm>
            <a:prstGeom prst="rect">
              <a:avLst/>
            </a:prstGeom>
          </p:spPr>
        </p:pic>
      </p:grpSp>
      <p:grpSp>
        <p:nvGrpSpPr>
          <p:cNvPr id="11" name="Group 10" descr="GlobalData: Subscribe Today: &#10;ALE's NaaS allows customers to pay a low hardware entry fee and monthly, quarterly, or annual subscription fees, to better align budgets with projects or revenue. Channel partners benefit with a NaaS portal to order and track subscription licenses.&#10;Alcatel-Lucent Enterprise – Enterprise Networking &amp; Data Center – November 2023">
            <a:extLst>
              <a:ext uri="{FF2B5EF4-FFF2-40B4-BE49-F238E27FC236}">
                <a16:creationId xmlns:a16="http://schemas.microsoft.com/office/drawing/2014/main" id="{2BFEA46B-2125-D014-0312-2693FA92D219}"/>
              </a:ext>
            </a:extLst>
          </p:cNvPr>
          <p:cNvGrpSpPr/>
          <p:nvPr/>
        </p:nvGrpSpPr>
        <p:grpSpPr>
          <a:xfrm>
            <a:off x="5183787" y="2571750"/>
            <a:ext cx="3707963" cy="1856661"/>
            <a:chOff x="5183787" y="2571750"/>
            <a:chExt cx="3707963" cy="18566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6D1E15-65B2-438D-2771-DB3FF82F5E15}"/>
                </a:ext>
              </a:extLst>
            </p:cNvPr>
            <p:cNvSpPr txBox="1"/>
            <p:nvPr/>
          </p:nvSpPr>
          <p:spPr>
            <a:xfrm>
              <a:off x="5183787" y="2571750"/>
              <a:ext cx="3707963" cy="1856661"/>
            </a:xfrm>
            <a:prstGeom prst="roundRect">
              <a:avLst>
                <a:gd name="adj" fmla="val 8349"/>
              </a:avLst>
            </a:prstGeom>
            <a:solidFill>
              <a:schemeClr val="bg1"/>
            </a:solidFill>
            <a:ln w="12700">
              <a:solidFill>
                <a:schemeClr val="tx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100" i="1" dirty="0">
                <a:solidFill>
                  <a:schemeClr val="tx2">
                    <a:lumMod val="50000"/>
                  </a:schemeClr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Subscribe Today: </a:t>
              </a:r>
              <a:b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</a:b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ALE's </a:t>
              </a:r>
              <a:r>
                <a:rPr lang="en-US" sz="1100" i="1" dirty="0" err="1">
                  <a:solidFill>
                    <a:schemeClr val="tx2">
                      <a:lumMod val="50000"/>
                    </a:schemeClr>
                  </a:solidFill>
                </a:rPr>
                <a:t>NaaS</a:t>
              </a: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 allows customers to pay a low hardware entry fee and monthly, quarterly, or annual subscription fees, to better align budgets with projects or revenue. Channel partners benefit with a </a:t>
              </a:r>
              <a:r>
                <a:rPr lang="en-US" sz="1100" i="1" dirty="0" err="1">
                  <a:solidFill>
                    <a:schemeClr val="tx2">
                      <a:lumMod val="50000"/>
                    </a:schemeClr>
                  </a:solidFill>
                </a:rPr>
                <a:t>NaaS</a:t>
              </a:r>
              <a:r>
                <a:rPr lang="en-US" sz="1100" i="1" dirty="0">
                  <a:solidFill>
                    <a:schemeClr val="tx2">
                      <a:lumMod val="50000"/>
                    </a:schemeClr>
                  </a:solidFill>
                </a:rPr>
                <a:t> portal to order and track subscription licenses.</a:t>
              </a:r>
            </a:p>
            <a:p>
              <a:r>
                <a:rPr lang="en-US" sz="1000" dirty="0"/>
                <a:t>Alcatel-Lucent Enterprise – Enterprise Networking &amp; Data Center – November 2023</a:t>
              </a:r>
            </a:p>
          </p:txBody>
        </p:sp>
        <p:pic>
          <p:nvPicPr>
            <p:cNvPr id="14" name="Picture 13" descr="GlobalData logo">
              <a:extLst>
                <a:ext uri="{FF2B5EF4-FFF2-40B4-BE49-F238E27FC236}">
                  <a16:creationId xmlns:a16="http://schemas.microsoft.com/office/drawing/2014/main" id="{7525D43D-7159-4C4A-0683-FEB7F73B54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7503" b="41926"/>
            <a:stretch/>
          </p:blipFill>
          <p:spPr>
            <a:xfrm>
              <a:off x="5293745" y="2611533"/>
              <a:ext cx="1162980" cy="245290"/>
            </a:xfrm>
            <a:prstGeom prst="rect">
              <a:avLst/>
            </a:prstGeom>
          </p:spPr>
        </p:pic>
      </p:grpSp>
      <p:pic>
        <p:nvPicPr>
          <p:cNvPr id="3" name="Picture 2" descr="Alcatel-Lucent Enterprise logo">
            <a:extLst>
              <a:ext uri="{FF2B5EF4-FFF2-40B4-BE49-F238E27FC236}">
                <a16:creationId xmlns:a16="http://schemas.microsoft.com/office/drawing/2014/main" id="{B5499AFE-6632-C7F2-037E-779F03F536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5314" y="4601022"/>
            <a:ext cx="1204686" cy="3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755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B660A113-AADD-17A2-A828-DB64BB29F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F6B118-824D-523D-9F8F-C3ED341332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85750"/>
            <a:ext cx="4498092" cy="3323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We are Committed to Successful Partner Relationships</a:t>
            </a:r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CA58E7FD-CB44-E8CA-7D9B-F651EB1B0005}"/>
              </a:ext>
            </a:extLst>
          </p:cNvPr>
          <p:cNvSpPr txBox="1">
            <a:spLocks/>
          </p:cNvSpPr>
          <p:nvPr/>
        </p:nvSpPr>
        <p:spPr>
          <a:xfrm>
            <a:off x="762000" y="1247775"/>
            <a:ext cx="4302369" cy="430887"/>
          </a:xfrm>
          <a:prstGeom prst="rect">
            <a:avLst/>
          </a:prstGeom>
        </p:spPr>
        <p:txBody>
          <a:bodyPr lIns="0"/>
          <a:lstStyle>
            <a:defPPr>
              <a:defRPr lang="it-IT"/>
            </a:defPPr>
            <a:lvl1pPr indent="0" defTabSz="685181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Trebuchet MS" panose="020B0703020202090204" pitchFamily="34" charset="0"/>
                <a:ea typeface="Montserrat Hairline" charset="0"/>
                <a:cs typeface="Montserrat Hairline" charset="0"/>
              </a:defRPr>
            </a:lvl1pPr>
            <a:lvl2pPr marL="513737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50"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750"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defTabSz="685181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750"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6pPr>
            <a:lvl7pPr marL="2228327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146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3965" indent="-171410" defTabSz="685639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CA" dirty="0"/>
              <a:t>We enable our partners to evolve their customer offering with complementary services to help secure technology transitions and cloud migration for their customers. </a:t>
            </a:r>
          </a:p>
        </p:txBody>
      </p:sp>
      <p:sp>
        <p:nvSpPr>
          <p:cNvPr id="57" name="Rectangle 15">
            <a:extLst>
              <a:ext uri="{FF2B5EF4-FFF2-40B4-BE49-F238E27FC236}">
                <a16:creationId xmlns:a16="http://schemas.microsoft.com/office/drawing/2014/main" id="{6BBCEE13-6C8B-6CA1-28E7-084DDCA55359}"/>
              </a:ext>
            </a:extLst>
          </p:cNvPr>
          <p:cNvSpPr/>
          <p:nvPr/>
        </p:nvSpPr>
        <p:spPr>
          <a:xfrm>
            <a:off x="762685" y="2348573"/>
            <a:ext cx="2130552" cy="301752"/>
          </a:xfrm>
          <a:prstGeom prst="rect">
            <a:avLst/>
          </a:prstGeom>
          <a:solidFill>
            <a:srgbClr val="005E70"/>
          </a:solidFill>
        </p:spPr>
        <p:txBody>
          <a:bodyPr wrap="square">
            <a:spAutoFit/>
          </a:bodyPr>
          <a:lstStyle/>
          <a:p>
            <a:pPr marL="0" marR="0" lvl="0" indent="0" algn="ctr" defTabSz="8865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Channel Partners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2933C9A-4B03-A287-D5B8-2AF1135EF037}"/>
              </a:ext>
            </a:extLst>
          </p:cNvPr>
          <p:cNvSpPr/>
          <p:nvPr/>
        </p:nvSpPr>
        <p:spPr>
          <a:xfrm>
            <a:off x="767548" y="2650325"/>
            <a:ext cx="21214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sym typeface="Trebuchet MS"/>
              </a:rPr>
              <a:t>Sell, integrate, support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5E7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75ED3D52-3C77-4A7E-2AD5-4C7838825CA0}"/>
              </a:ext>
            </a:extLst>
          </p:cNvPr>
          <p:cNvSpPr/>
          <p:nvPr/>
        </p:nvSpPr>
        <p:spPr>
          <a:xfrm>
            <a:off x="758404" y="3171650"/>
            <a:ext cx="2130552" cy="301752"/>
          </a:xfrm>
          <a:prstGeom prst="rect">
            <a:avLst/>
          </a:prstGeom>
          <a:solidFill>
            <a:srgbClr val="005E70"/>
          </a:solidFill>
        </p:spPr>
        <p:txBody>
          <a:bodyPr wrap="square">
            <a:spAutoFit/>
          </a:bodyPr>
          <a:lstStyle/>
          <a:p>
            <a:pPr marL="0" marR="0" lvl="0" indent="0" algn="ctr" defTabSz="8865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Alliance Partners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E20763F-3B8F-E24B-353E-C3C0F1D3F449}"/>
              </a:ext>
            </a:extLst>
          </p:cNvPr>
          <p:cNvSpPr/>
          <p:nvPr/>
        </p:nvSpPr>
        <p:spPr>
          <a:xfrm>
            <a:off x="763269" y="3473402"/>
            <a:ext cx="21214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sym typeface="Trebuchet MS"/>
              </a:rPr>
              <a:t>Global expertise and reach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5E7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3" name="Rectangle 15">
            <a:extLst>
              <a:ext uri="{FF2B5EF4-FFF2-40B4-BE49-F238E27FC236}">
                <a16:creationId xmlns:a16="http://schemas.microsoft.com/office/drawing/2014/main" id="{79330251-6DB8-766C-41B7-649C6CACBFFB}"/>
              </a:ext>
            </a:extLst>
          </p:cNvPr>
          <p:cNvSpPr/>
          <p:nvPr/>
        </p:nvSpPr>
        <p:spPr>
          <a:xfrm>
            <a:off x="754125" y="3985700"/>
            <a:ext cx="2130552" cy="301752"/>
          </a:xfrm>
          <a:prstGeom prst="rect">
            <a:avLst/>
          </a:prstGeom>
          <a:solidFill>
            <a:srgbClr val="005E70"/>
          </a:solidFill>
        </p:spPr>
        <p:txBody>
          <a:bodyPr wrap="square">
            <a:spAutoFit/>
          </a:bodyPr>
          <a:lstStyle/>
          <a:p>
            <a:pPr marL="0" marR="0" lvl="0" indent="0" algn="ctr" defTabSz="8865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Technology Partners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C25098-57B1-827A-5CC4-ED49ED563F0F}"/>
              </a:ext>
            </a:extLst>
          </p:cNvPr>
          <p:cNvSpPr/>
          <p:nvPr/>
        </p:nvSpPr>
        <p:spPr>
          <a:xfrm>
            <a:off x="752668" y="4282889"/>
            <a:ext cx="21214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E7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Complementing our offer</a:t>
            </a:r>
          </a:p>
        </p:txBody>
      </p:sp>
      <p:pic>
        <p:nvPicPr>
          <p:cNvPr id="59" name="Picture 58" descr="Alcatel-Lucent Enterprise logo">
            <a:extLst>
              <a:ext uri="{FF2B5EF4-FFF2-40B4-BE49-F238E27FC236}">
                <a16:creationId xmlns:a16="http://schemas.microsoft.com/office/drawing/2014/main" id="{FC2FED6B-1192-0D01-C316-ED78A47AA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314" y="4601022"/>
            <a:ext cx="1204686" cy="3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Stadt Munster logo">
            <a:extLst>
              <a:ext uri="{FF2B5EF4-FFF2-40B4-BE49-F238E27FC236}">
                <a16:creationId xmlns:a16="http://schemas.microsoft.com/office/drawing/2014/main" id="{7EB0C50D-D545-45E4-89C0-D39B4EA986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28"/>
          <a:stretch/>
        </p:blipFill>
        <p:spPr>
          <a:xfrm>
            <a:off x="5352045" y="2530581"/>
            <a:ext cx="1403178" cy="75626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C174195-AA56-49A3-C833-985A18A207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71454"/>
            <a:ext cx="6692900" cy="3323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Some of Our Customers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38" name="Rectangle: Rounded Corners 37" descr="Education">
            <a:extLst>
              <a:ext uri="{FF2B5EF4-FFF2-40B4-BE49-F238E27FC236}">
                <a16:creationId xmlns:a16="http://schemas.microsoft.com/office/drawing/2014/main" id="{AE92DE54-1808-4122-949E-45D4ACE647F2}"/>
              </a:ext>
            </a:extLst>
          </p:cNvPr>
          <p:cNvSpPr/>
          <p:nvPr/>
        </p:nvSpPr>
        <p:spPr>
          <a:xfrm>
            <a:off x="839855" y="893397"/>
            <a:ext cx="1037216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Education</a:t>
            </a:r>
          </a:p>
        </p:txBody>
      </p:sp>
      <p:pic>
        <p:nvPicPr>
          <p:cNvPr id="20" name="Immagine 10" descr="Abilene Christian University logo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594"/>
          <a:stretch/>
        </p:blipFill>
        <p:spPr>
          <a:xfrm>
            <a:off x="1037626" y="1348292"/>
            <a:ext cx="562165" cy="66111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raphic 30" descr="California State University logo">
            <a:extLst>
              <a:ext uri="{FF2B5EF4-FFF2-40B4-BE49-F238E27FC236}">
                <a16:creationId xmlns:a16="http://schemas.microsoft.com/office/drawing/2014/main" id="{5526EF35-275A-C6C3-2368-25376DEF25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7291" y="2183981"/>
            <a:ext cx="675241" cy="661115"/>
          </a:xfrm>
          <a:prstGeom prst="rect">
            <a:avLst/>
          </a:prstGeom>
        </p:spPr>
      </p:pic>
      <p:pic>
        <p:nvPicPr>
          <p:cNvPr id="12" name="Image 11" descr="Linkoping University logo">
            <a:extLst>
              <a:ext uri="{FF2B5EF4-FFF2-40B4-BE49-F238E27FC236}">
                <a16:creationId xmlns:a16="http://schemas.microsoft.com/office/drawing/2014/main" id="{1B1C4EB2-B749-B924-824F-3FAD4994AD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562" y="2938330"/>
            <a:ext cx="890292" cy="294200"/>
          </a:xfrm>
          <a:prstGeom prst="rect">
            <a:avLst/>
          </a:prstGeom>
        </p:spPr>
      </p:pic>
      <p:pic>
        <p:nvPicPr>
          <p:cNvPr id="46" name="Image" descr="Gwinnett County Public Schools logo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143" y="3374027"/>
            <a:ext cx="331130" cy="8248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Immagine 3" descr="Centro Paula Souz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534" y="4298083"/>
            <a:ext cx="820349" cy="621190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CBEE275-705A-2977-8692-701DFF117C11}"/>
              </a:ext>
            </a:extLst>
          </p:cNvPr>
          <p:cNvSpPr/>
          <p:nvPr/>
        </p:nvSpPr>
        <p:spPr>
          <a:xfrm>
            <a:off x="2182942" y="893397"/>
            <a:ext cx="995136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Transport</a:t>
            </a:r>
          </a:p>
        </p:txBody>
      </p:sp>
      <p:pic>
        <p:nvPicPr>
          <p:cNvPr id="3" name="Immagine 2" descr="Gottardo 2016 logo">
            <a:extLst>
              <a:ext uri="{FF2B5EF4-FFF2-40B4-BE49-F238E27FC236}">
                <a16:creationId xmlns:a16="http://schemas.microsoft.com/office/drawing/2014/main" id="{537043F2-2AE7-4BE6-9487-54E4F5063FC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06118" y="1392718"/>
            <a:ext cx="959291" cy="613110"/>
          </a:xfrm>
          <a:prstGeom prst="rect">
            <a:avLst/>
          </a:prstGeom>
        </p:spPr>
      </p:pic>
      <p:sp>
        <p:nvSpPr>
          <p:cNvPr id="51" name="Rettangolo 21"/>
          <p:cNvSpPr/>
          <p:nvPr/>
        </p:nvSpPr>
        <p:spPr>
          <a:xfrm>
            <a:off x="2206118" y="2069335"/>
            <a:ext cx="959291" cy="2844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Times New Roman" panose="02020603050405020304" pitchFamily="18" charset="0"/>
                <a:cs typeface="Calibri" panose="020F0502020204030204" pitchFamily="34" charset="0"/>
              </a:rPr>
              <a:t>Gotthard Tunnel</a:t>
            </a:r>
          </a:p>
        </p:txBody>
      </p:sp>
      <p:pic>
        <p:nvPicPr>
          <p:cNvPr id="23" name="Immagine 14" descr="Nevada DOT logo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7167" y="2624919"/>
            <a:ext cx="857192" cy="47145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50" name="Rettangolo 21"/>
          <p:cNvSpPr/>
          <p:nvPr/>
        </p:nvSpPr>
        <p:spPr>
          <a:xfrm>
            <a:off x="2094826" y="3187304"/>
            <a:ext cx="1181874" cy="30921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Times New Roman" panose="02020603050405020304" pitchFamily="18" charset="0"/>
                <a:cs typeface="Calibri" panose="020F0502020204030204" pitchFamily="34" charset="0"/>
              </a:rPr>
              <a:t>Nevada Department 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Times New Roman" panose="02020603050405020304" pitchFamily="18" charset="0"/>
                <a:cs typeface="Calibri" panose="020F0502020204030204" pitchFamily="34" charset="0"/>
              </a:rPr>
              <a:t>of Transportation</a:t>
            </a:r>
          </a:p>
        </p:txBody>
      </p:sp>
      <p:sp>
        <p:nvSpPr>
          <p:cNvPr id="24" name="Rectangle: Rounded Corners 35">
            <a:extLst>
              <a:ext uri="{FF2B5EF4-FFF2-40B4-BE49-F238E27FC236}">
                <a16:creationId xmlns:a16="http://schemas.microsoft.com/office/drawing/2014/main" id="{0B4BFB6E-9276-8B91-6CBB-8900114F5A8D}"/>
              </a:ext>
            </a:extLst>
          </p:cNvPr>
          <p:cNvSpPr/>
          <p:nvPr/>
        </p:nvSpPr>
        <p:spPr>
          <a:xfrm>
            <a:off x="3598582" y="893397"/>
            <a:ext cx="1037217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Healthcare</a:t>
            </a:r>
          </a:p>
        </p:txBody>
      </p:sp>
      <p:pic>
        <p:nvPicPr>
          <p:cNvPr id="11" name="Image 12" descr="CH Mayotte logo">
            <a:extLst>
              <a:ext uri="{FF2B5EF4-FFF2-40B4-BE49-F238E27FC236}">
                <a16:creationId xmlns:a16="http://schemas.microsoft.com/office/drawing/2014/main" id="{2E3A0D2B-B698-6C36-E343-7BBE13B8D5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6372" y="1395916"/>
            <a:ext cx="784924" cy="439141"/>
          </a:xfrm>
          <a:prstGeom prst="rect">
            <a:avLst/>
          </a:prstGeom>
        </p:spPr>
      </p:pic>
      <p:sp>
        <p:nvSpPr>
          <p:cNvPr id="14" name="Rettangolo 21">
            <a:extLst>
              <a:ext uri="{FF2B5EF4-FFF2-40B4-BE49-F238E27FC236}">
                <a16:creationId xmlns:a16="http://schemas.microsoft.com/office/drawing/2014/main" id="{5FABBBC0-CBAE-241E-A23C-86B9BA5A6939}"/>
              </a:ext>
            </a:extLst>
          </p:cNvPr>
          <p:cNvSpPr/>
          <p:nvPr/>
        </p:nvSpPr>
        <p:spPr>
          <a:xfrm>
            <a:off x="3748386" y="1829620"/>
            <a:ext cx="720896" cy="1607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Times New Roman" panose="02020603050405020304" pitchFamily="18" charset="0"/>
                <a:cs typeface="Calibri" panose="020F0502020204030204" pitchFamily="34" charset="0"/>
              </a:rPr>
              <a:t>CH Mayotte</a:t>
            </a:r>
          </a:p>
        </p:txBody>
      </p:sp>
      <p:sp>
        <p:nvSpPr>
          <p:cNvPr id="40" name="Rectangle: Rounded Corners 33">
            <a:extLst>
              <a:ext uri="{FF2B5EF4-FFF2-40B4-BE49-F238E27FC236}">
                <a16:creationId xmlns:a16="http://schemas.microsoft.com/office/drawing/2014/main" id="{75FB8335-FC35-3D21-6F41-D02319770ECC}"/>
              </a:ext>
            </a:extLst>
          </p:cNvPr>
          <p:cNvSpPr/>
          <p:nvPr/>
        </p:nvSpPr>
        <p:spPr>
          <a:xfrm>
            <a:off x="3582266" y="3261836"/>
            <a:ext cx="1069848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spAutoFit/>
          </a:bodyPr>
          <a:lstStyle/>
          <a:p>
            <a:pPr algn="ctr"/>
            <a:r>
              <a:rPr lang="en-GB" sz="1100" dirty="0">
                <a:solidFill>
                  <a:srgbClr val="FFFFFF"/>
                </a:solidFill>
                <a:latin typeface="Trebuchet MS" panose="020B0603020202020204"/>
              </a:rPr>
              <a:t>Hospitality</a:t>
            </a:r>
          </a:p>
        </p:txBody>
      </p:sp>
      <p:pic>
        <p:nvPicPr>
          <p:cNvPr id="1030" name="Picture 6" descr="Okada logo">
            <a:extLst>
              <a:ext uri="{FF2B5EF4-FFF2-40B4-BE49-F238E27FC236}">
                <a16:creationId xmlns:a16="http://schemas.microsoft.com/office/drawing/2014/main" id="{E786660C-7281-7FBE-DC22-265BF2FA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530" y="3723586"/>
            <a:ext cx="878254" cy="67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C580D4D-56E4-4A9C-ADFF-93D30C8CEACE}"/>
              </a:ext>
            </a:extLst>
          </p:cNvPr>
          <p:cNvSpPr/>
          <p:nvPr/>
        </p:nvSpPr>
        <p:spPr>
          <a:xfrm>
            <a:off x="5063654" y="893397"/>
            <a:ext cx="1868504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Government/Public</a:t>
            </a:r>
          </a:p>
        </p:txBody>
      </p:sp>
      <p:pic>
        <p:nvPicPr>
          <p:cNvPr id="47" name="Image 46" descr="Scottish Government logo">
            <a:extLst>
              <a:ext uri="{FF2B5EF4-FFF2-40B4-BE49-F238E27FC236}">
                <a16:creationId xmlns:a16="http://schemas.microsoft.com/office/drawing/2014/main" id="{B3B5C5DA-BBFC-013F-8D9E-C1B6B08EEB7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8058" y="1464077"/>
            <a:ext cx="1702856" cy="399852"/>
          </a:xfrm>
          <a:prstGeom prst="rect">
            <a:avLst/>
          </a:prstGeom>
        </p:spPr>
      </p:pic>
      <p:pic>
        <p:nvPicPr>
          <p:cNvPr id="26" name="Immagine 17" descr="Perpignan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0945" y="1949642"/>
            <a:ext cx="982950" cy="4074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 15" descr="Eurometropole Metz logo">
            <a:extLst>
              <a:ext uri="{FF2B5EF4-FFF2-40B4-BE49-F238E27FC236}">
                <a16:creationId xmlns:a16="http://schemas.microsoft.com/office/drawing/2014/main" id="{D84D6A60-E488-92C8-5FA9-3F0F448D78D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273" b="30769"/>
          <a:stretch/>
        </p:blipFill>
        <p:spPr>
          <a:xfrm>
            <a:off x="5021401" y="2311903"/>
            <a:ext cx="820973" cy="301452"/>
          </a:xfrm>
          <a:prstGeom prst="rect">
            <a:avLst/>
          </a:prstGeom>
        </p:spPr>
      </p:pic>
      <p:pic>
        <p:nvPicPr>
          <p:cNvPr id="5" name="Picture 4" descr="Hokkaido Municipality logo">
            <a:extLst>
              <a:ext uri="{FF2B5EF4-FFF2-40B4-BE49-F238E27FC236}">
                <a16:creationId xmlns:a16="http://schemas.microsoft.com/office/drawing/2014/main" id="{2B13F40E-A226-F26F-9658-98502F4A40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2180" y="3899824"/>
            <a:ext cx="498872" cy="497086"/>
          </a:xfrm>
          <a:prstGeom prst="rect">
            <a:avLst/>
          </a:prstGeom>
        </p:spPr>
      </p:pic>
      <p:sp>
        <p:nvSpPr>
          <p:cNvPr id="6" name="Rettangolo 21">
            <a:extLst>
              <a:ext uri="{FF2B5EF4-FFF2-40B4-BE49-F238E27FC236}">
                <a16:creationId xmlns:a16="http://schemas.microsoft.com/office/drawing/2014/main" id="{70F4A6D6-84BB-5A9F-3BCE-03AD0F277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41759" y="4425399"/>
            <a:ext cx="959291" cy="28440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+mn-ea"/>
                <a:cs typeface="Calibri"/>
              </a:rPr>
              <a:t>Hokkaido Municipality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6B489D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5" name="Image 14" descr="Wembly Park logo">
            <a:extLst>
              <a:ext uri="{FF2B5EF4-FFF2-40B4-BE49-F238E27FC236}">
                <a16:creationId xmlns:a16="http://schemas.microsoft.com/office/drawing/2014/main" id="{A98718A8-98BC-BA53-B645-0B130B6085D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0461" y="3405115"/>
            <a:ext cx="825275" cy="57329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66EDB3-602E-D8EB-3DD9-1D00ED492F5B}"/>
              </a:ext>
            </a:extLst>
          </p:cNvPr>
          <p:cNvSpPr/>
          <p:nvPr/>
        </p:nvSpPr>
        <p:spPr>
          <a:xfrm>
            <a:off x="7310299" y="893397"/>
            <a:ext cx="1589192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Energy and Utilities</a:t>
            </a: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9" name="Image 18" descr="JMalucelli logo">
            <a:extLst>
              <a:ext uri="{FF2B5EF4-FFF2-40B4-BE49-F238E27FC236}">
                <a16:creationId xmlns:a16="http://schemas.microsoft.com/office/drawing/2014/main" id="{63223E0F-C3CE-F93E-2690-744E831965B7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394" b="16968"/>
          <a:stretch/>
        </p:blipFill>
        <p:spPr>
          <a:xfrm>
            <a:off x="7351752" y="1331657"/>
            <a:ext cx="1459339" cy="676617"/>
          </a:xfrm>
          <a:prstGeom prst="rect">
            <a:avLst/>
          </a:prstGeom>
        </p:spPr>
      </p:pic>
      <p:sp>
        <p:nvSpPr>
          <p:cNvPr id="39" name="Rectangle: Rounded Corners 28">
            <a:extLst>
              <a:ext uri="{FF2B5EF4-FFF2-40B4-BE49-F238E27FC236}">
                <a16:creationId xmlns:a16="http://schemas.microsoft.com/office/drawing/2014/main" id="{5945CACE-C4F3-1793-0E63-62F41349FD00}"/>
              </a:ext>
            </a:extLst>
          </p:cNvPr>
          <p:cNvSpPr/>
          <p:nvPr/>
        </p:nvSpPr>
        <p:spPr>
          <a:xfrm>
            <a:off x="7693444" y="3236784"/>
            <a:ext cx="798355" cy="320040"/>
          </a:xfrm>
          <a:prstGeom prst="roundRect">
            <a:avLst/>
          </a:prstGeom>
          <a:solidFill>
            <a:srgbClr val="005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spAutoFit/>
          </a:bodyPr>
          <a:lstStyle/>
          <a:p>
            <a:pPr algn="ctr"/>
            <a:r>
              <a:rPr lang="en-GB" sz="1100" dirty="0">
                <a:solidFill>
                  <a:srgbClr val="FFFFFF"/>
                </a:solidFill>
                <a:latin typeface="Trebuchet MS" panose="020B0603020202020204"/>
              </a:rPr>
              <a:t>Retail</a:t>
            </a:r>
          </a:p>
        </p:txBody>
      </p:sp>
      <p:pic>
        <p:nvPicPr>
          <p:cNvPr id="17" name="Image 16" descr="Eberhardt Marque de Confiance logo">
            <a:extLst>
              <a:ext uri="{FF2B5EF4-FFF2-40B4-BE49-F238E27FC236}">
                <a16:creationId xmlns:a16="http://schemas.microsoft.com/office/drawing/2014/main" id="{6D9F4237-6AA4-98CC-3082-05204619D8F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2649" y="3730249"/>
            <a:ext cx="1115224" cy="393695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7FB67D2-E29A-45C9-8647-43601C324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7823" y="1183645"/>
            <a:ext cx="0" cy="39479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F55A85A5-4729-49E9-BDE2-12D07A247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2680" y="1183645"/>
            <a:ext cx="0" cy="390356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4FD09C15-3401-4BBA-86AD-FB023DF05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87529" y="1183645"/>
            <a:ext cx="0" cy="390356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D5DF7068-DCB8-4B16-A93B-F63CDE565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99014" y="1183645"/>
            <a:ext cx="0" cy="390356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5C4C0E-B8AA-D923-A683-BEC9DD68F6C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8875" r="20375"/>
          <a:stretch/>
        </p:blipFill>
        <p:spPr>
          <a:xfrm>
            <a:off x="3902919" y="2104365"/>
            <a:ext cx="405912" cy="668169"/>
          </a:xfrm>
          <a:prstGeom prst="rect">
            <a:avLst/>
          </a:prstGeom>
        </p:spPr>
      </p:pic>
      <p:sp>
        <p:nvSpPr>
          <p:cNvPr id="4" name="Rettangolo 21">
            <a:extLst>
              <a:ext uri="{FF2B5EF4-FFF2-40B4-BE49-F238E27FC236}">
                <a16:creationId xmlns:a16="http://schemas.microsoft.com/office/drawing/2014/main" id="{F5382C8D-0DD2-15D8-F31B-B18F2052E702}"/>
              </a:ext>
            </a:extLst>
          </p:cNvPr>
          <p:cNvSpPr/>
          <p:nvPr/>
        </p:nvSpPr>
        <p:spPr>
          <a:xfrm>
            <a:off x="3465916" y="2772535"/>
            <a:ext cx="1285837" cy="375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6B489D"/>
                </a:solidFill>
                <a:effectLst/>
                <a:uLnTx/>
                <a:uFillTx/>
                <a:latin typeface="Trebuchet MS" panose="020B0603020202020204"/>
                <a:ea typeface="Times New Roman" panose="02020603050405020304" pitchFamily="18" charset="0"/>
                <a:cs typeface="Calibri" panose="020F0502020204030204" pitchFamily="34" charset="0"/>
              </a:rPr>
              <a:t>Royal Prince Alfred Hospital, NSW Health</a:t>
            </a:r>
          </a:p>
        </p:txBody>
      </p:sp>
    </p:spTree>
    <p:extLst>
      <p:ext uri="{BB962C8B-B14F-4D97-AF65-F5344CB8AC3E}">
        <p14:creationId xmlns:p14="http://schemas.microsoft.com/office/powerpoint/2010/main" val="229855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CF0A-47B0-6BA4-E57F-BD02C350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C261B1-7001-DF6C-95FE-65DA83B83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6C7BCD-9787-9FC4-54D6-C4D4CF259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647" y="1290153"/>
            <a:ext cx="914400" cy="1143000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B251590-1B4B-FA43-B401-40F288CC1E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5650" y="285750"/>
            <a:ext cx="8329613" cy="3323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181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Trebuchet MS" panose="020B0703020202090204" pitchFamily="34" charset="0"/>
                <a:cs typeface="Trebuchet MS" panose="020B0703020202090204" pitchFamily="34" charset="0"/>
              </a:rPr>
              <a:t>We are Proud of Our Ongoing Journey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579B2F8-A984-D3AD-729F-D8ED0D5A7B31}"/>
              </a:ext>
            </a:extLst>
          </p:cNvPr>
          <p:cNvSpPr txBox="1">
            <a:spLocks/>
          </p:cNvSpPr>
          <p:nvPr/>
        </p:nvSpPr>
        <p:spPr>
          <a:xfrm>
            <a:off x="769620" y="976523"/>
            <a:ext cx="3169388" cy="3033734"/>
          </a:xfrm>
          <a:prstGeom prst="rect">
            <a:avLst/>
          </a:prstGeom>
        </p:spPr>
        <p:txBody>
          <a:bodyPr lIns="0"/>
          <a:lstStyle>
            <a:lvl1pPr marL="170849" indent="-170849" algn="l" defTabSz="685181" rtl="0" eaLnBrk="1" fontAlgn="base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3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1pPr>
            <a:lvl2pPr marL="513737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0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2pPr>
            <a:lvl3pPr marL="856625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90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3pPr>
            <a:lvl4pPr marL="1199513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4pPr>
            <a:lvl5pPr marL="1542401" indent="-170849" algn="l" defTabSz="685181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750" kern="1200" dirty="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5pPr>
            <a:lvl6pPr marL="188550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27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46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65" indent="-171410" algn="l" defTabSz="68563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87325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CA" sz="2000" dirty="0">
                <a:solidFill>
                  <a:schemeClr val="bg1"/>
                </a:solidFill>
                <a:latin typeface="Trebuchet MS" panose="020B0603020202020204"/>
                <a:ea typeface="+mn-ea"/>
                <a:cs typeface="+mn-cs"/>
              </a:rPr>
              <a:t>HQ in Paris, France</a:t>
            </a:r>
          </a:p>
          <a:p>
            <a:pPr marL="0" indent="-287325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CA" sz="200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endParaRP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CA" sz="1800" dirty="0">
                <a:solidFill>
                  <a:schemeClr val="bg1"/>
                </a:solidFill>
                <a:latin typeface="Trebuchet MS" panose="020B0603020202020204"/>
                <a:ea typeface="+mn-ea"/>
                <a:cs typeface="+mn-cs"/>
              </a:rPr>
              <a:t>3,400 partners </a:t>
            </a: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CA" sz="180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endParaRP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CA" sz="1800" dirty="0">
                <a:solidFill>
                  <a:schemeClr val="bg1"/>
                </a:solidFill>
                <a:latin typeface="Trebuchet MS" panose="020B0603020202020204"/>
                <a:ea typeface="+mn-ea"/>
                <a:cs typeface="+mn-cs"/>
              </a:rPr>
              <a:t>1M+ customers globally</a:t>
            </a: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CA" sz="180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endParaRP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CA" sz="1800" dirty="0">
                <a:solidFill>
                  <a:schemeClr val="bg1"/>
                </a:solidFill>
                <a:latin typeface="Trebuchet MS" panose="020B0603020202020204"/>
                <a:ea typeface="+mn-ea"/>
                <a:cs typeface="+mn-cs"/>
              </a:rPr>
              <a:t>100+ years’ experience and innovation</a:t>
            </a: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CA" sz="180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endParaRPr>
          </a:p>
          <a:p>
            <a:pPr marL="0" indent="0" defTabSz="68578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CA" sz="1800" dirty="0">
                <a:solidFill>
                  <a:schemeClr val="bg1"/>
                </a:solidFill>
                <a:latin typeface="Trebuchet MS" panose="020B0603020202020204"/>
                <a:ea typeface="+mn-ea"/>
                <a:cs typeface="+mn-cs"/>
              </a:rPr>
              <a:t>50+ representative offices worldwide </a:t>
            </a:r>
          </a:p>
        </p:txBody>
      </p:sp>
      <p:pic>
        <p:nvPicPr>
          <p:cNvPr id="15" name="Picture 14" descr="Alcatel-Lucent Enterprise logo">
            <a:extLst>
              <a:ext uri="{FF2B5EF4-FFF2-40B4-BE49-F238E27FC236}">
                <a16:creationId xmlns:a16="http://schemas.microsoft.com/office/drawing/2014/main" id="{E78C8FCB-21B5-8F41-2A2E-F74540531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314" y="4601022"/>
            <a:ext cx="1204686" cy="3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4556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6FB1-3A48-54D1-C2D0-03AC5382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8288"/>
            <a:ext cx="7744409" cy="332399"/>
          </a:xfrm>
        </p:spPr>
        <p:txBody>
          <a:bodyPr/>
          <a:lstStyle/>
          <a:p>
            <a:r>
              <a:rPr lang="en-US" dirty="0"/>
              <a:t>Meet Our Executive Team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4FAAD0-6D0E-0190-5112-D72EF92A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8" b="628"/>
          <a:stretch/>
        </p:blipFill>
        <p:spPr>
          <a:xfrm>
            <a:off x="730799" y="1744847"/>
            <a:ext cx="1454862" cy="14365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5875">
            <a:solidFill>
              <a:schemeClr val="accent1"/>
            </a:solidFill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B401E3C-837A-EA9D-AA04-ED01EDDEDACF}"/>
              </a:ext>
            </a:extLst>
          </p:cNvPr>
          <p:cNvSpPr/>
          <p:nvPr/>
        </p:nvSpPr>
        <p:spPr>
          <a:xfrm>
            <a:off x="1100817" y="3273006"/>
            <a:ext cx="737668" cy="3693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87097" marR="0" lvl="0" indent="-87097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Trebuchet MS" panose="020B0603020202020204"/>
                <a:ea typeface="+mn-ea"/>
                <a:cs typeface="Trebuchet MS"/>
              </a:rPr>
              <a:t>Yann Zhang</a:t>
            </a:r>
          </a:p>
          <a:p>
            <a:pPr marL="87097" marR="0" lvl="0" indent="-87097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Trebuchet MS" panose="020B0603020202020204"/>
                <a:ea typeface="+mn-ea"/>
                <a:cs typeface="Trebuchet MS"/>
              </a:rPr>
              <a:t>CEO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58AC24-A65E-8313-452C-DB6541409DD7}"/>
              </a:ext>
            </a:extLst>
          </p:cNvPr>
          <p:cNvGrpSpPr/>
          <p:nvPr/>
        </p:nvGrpSpPr>
        <p:grpSpPr>
          <a:xfrm>
            <a:off x="3375214" y="2881015"/>
            <a:ext cx="4773991" cy="1928610"/>
            <a:chOff x="3097138" y="2826350"/>
            <a:chExt cx="4773991" cy="19286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4851234-7D85-E891-8AFB-669F7857F4F9}"/>
                </a:ext>
              </a:extLst>
            </p:cNvPr>
            <p:cNvGrpSpPr/>
            <p:nvPr/>
          </p:nvGrpSpPr>
          <p:grpSpPr>
            <a:xfrm>
              <a:off x="3097138" y="2826350"/>
              <a:ext cx="1420771" cy="1928610"/>
              <a:chOff x="2918234" y="2826350"/>
              <a:chExt cx="1420771" cy="1928610"/>
            </a:xfrm>
          </p:grpSpPr>
          <p:pic>
            <p:nvPicPr>
              <p:cNvPr id="5" name="Picture 4" descr="Rasheed Mohamad headshot">
                <a:extLst>
                  <a:ext uri="{FF2B5EF4-FFF2-40B4-BE49-F238E27FC236}">
                    <a16:creationId xmlns:a16="http://schemas.microsoft.com/office/drawing/2014/main" id="{5899EC70-6E10-4CF2-808C-7414009C0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18234" y="2826350"/>
                <a:ext cx="1420771" cy="1420771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775FB105-8697-41B7-A63E-4B81116D40E7}"/>
                  </a:ext>
                </a:extLst>
              </p:cNvPr>
              <p:cNvSpPr/>
              <p:nvPr/>
            </p:nvSpPr>
            <p:spPr>
              <a:xfrm>
                <a:off x="2938121" y="4357236"/>
                <a:ext cx="1380996" cy="397724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Rasheed Mohamad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Global Revenue and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Operations officer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FB18A1-B134-258D-F860-D846C5B8E55A}"/>
                </a:ext>
              </a:extLst>
            </p:cNvPr>
            <p:cNvGrpSpPr/>
            <p:nvPr/>
          </p:nvGrpSpPr>
          <p:grpSpPr>
            <a:xfrm>
              <a:off x="4626886" y="2826350"/>
              <a:ext cx="1704342" cy="1900218"/>
              <a:chOff x="4626886" y="2826350"/>
              <a:chExt cx="1704342" cy="1900218"/>
            </a:xfrm>
          </p:grpSpPr>
          <p:pic>
            <p:nvPicPr>
              <p:cNvPr id="21" name="Picture 20" descr="Maarten Huntjens headshot">
                <a:extLst>
                  <a:ext uri="{FF2B5EF4-FFF2-40B4-BE49-F238E27FC236}">
                    <a16:creationId xmlns:a16="http://schemas.microsoft.com/office/drawing/2014/main" id="{EEE8DAB5-D1A0-4C2F-BCD0-823AC750FE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8027" y="2826350"/>
                <a:ext cx="1422061" cy="1422061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17" name="Rectangle 9">
                <a:extLst>
                  <a:ext uri="{FF2B5EF4-FFF2-40B4-BE49-F238E27FC236}">
                    <a16:creationId xmlns:a16="http://schemas.microsoft.com/office/drawing/2014/main" id="{3C6B8183-E366-4777-9242-7596D36B83E2}"/>
                  </a:ext>
                </a:extLst>
              </p:cNvPr>
              <p:cNvSpPr/>
              <p:nvPr/>
            </p:nvSpPr>
            <p:spPr>
              <a:xfrm>
                <a:off x="4626886" y="4357236"/>
                <a:ext cx="1704342" cy="369332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Maarten Huntjens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EVP, Global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 Human Resources and Real Estate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7812B94-0F77-1F67-DE2D-7B3551CC67CB}"/>
                </a:ext>
              </a:extLst>
            </p:cNvPr>
            <p:cNvGrpSpPr/>
            <p:nvPr/>
          </p:nvGrpSpPr>
          <p:grpSpPr>
            <a:xfrm>
              <a:off x="6445237" y="2826350"/>
              <a:ext cx="1425892" cy="1818459"/>
              <a:chOff x="6673837" y="2826350"/>
              <a:chExt cx="1425892" cy="1818459"/>
            </a:xfrm>
          </p:grpSpPr>
          <p:pic>
            <p:nvPicPr>
              <p:cNvPr id="29" name="Picture 28" descr="Marc Blecken headshot">
                <a:extLst>
                  <a:ext uri="{FF2B5EF4-FFF2-40B4-BE49-F238E27FC236}">
                    <a16:creationId xmlns:a16="http://schemas.microsoft.com/office/drawing/2014/main" id="{E3767E65-5B59-BE43-E95A-C25C09B03F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673837" y="2826350"/>
                <a:ext cx="1425892" cy="1415659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2B5AEFB8-716F-495B-8499-858182087C4F}"/>
                  </a:ext>
                </a:extLst>
              </p:cNvPr>
              <p:cNvSpPr/>
              <p:nvPr/>
            </p:nvSpPr>
            <p:spPr>
              <a:xfrm>
                <a:off x="6926838" y="4357236"/>
                <a:ext cx="919891" cy="287573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 marL="86995" marR="0" lvl="0" indent="-86995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Marc Blecken</a:t>
                </a:r>
              </a:p>
              <a:p>
                <a:pPr marL="86995" marR="0" lvl="0" indent="-86995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EVP, Finance</a:t>
                </a:r>
                <a:endParaRPr kumimoji="0" lang="de-DE" sz="1350" b="0" i="0" u="none" strike="noStrike" kern="1200" cap="none" spc="0" normalizeH="0" baseline="0" noProof="0">
                  <a:ln>
                    <a:noFill/>
                  </a:ln>
                  <a:solidFill>
                    <a:srgbClr val="6B489D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12C0A8A-4D3D-F057-7985-98210CE42180}"/>
              </a:ext>
            </a:extLst>
          </p:cNvPr>
          <p:cNvGrpSpPr/>
          <p:nvPr/>
        </p:nvGrpSpPr>
        <p:grpSpPr>
          <a:xfrm>
            <a:off x="2523789" y="805067"/>
            <a:ext cx="6476841" cy="1903589"/>
            <a:chOff x="2523789" y="805067"/>
            <a:chExt cx="6476841" cy="190358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1FFAD73-E044-E372-735F-81B5941B03D4}"/>
                </a:ext>
              </a:extLst>
            </p:cNvPr>
            <p:cNvGrpSpPr/>
            <p:nvPr/>
          </p:nvGrpSpPr>
          <p:grpSpPr>
            <a:xfrm>
              <a:off x="2523789" y="807710"/>
              <a:ext cx="1415660" cy="1872554"/>
              <a:chOff x="2523789" y="807710"/>
              <a:chExt cx="1415660" cy="1872554"/>
            </a:xfrm>
          </p:grpSpPr>
          <p:pic>
            <p:nvPicPr>
              <p:cNvPr id="7" name="Picture 6" descr="Stephane Robineau headshot">
                <a:extLst>
                  <a:ext uri="{FF2B5EF4-FFF2-40B4-BE49-F238E27FC236}">
                    <a16:creationId xmlns:a16="http://schemas.microsoft.com/office/drawing/2014/main" id="{3CECDF36-12BF-4AEA-AAF1-55E43223E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523789" y="807710"/>
                <a:ext cx="1415660" cy="14156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789F0A11-041F-4FA7-913A-738A339C9FD8}"/>
                  </a:ext>
                </a:extLst>
              </p:cNvPr>
              <p:cNvSpPr/>
              <p:nvPr/>
            </p:nvSpPr>
            <p:spPr>
              <a:xfrm>
                <a:off x="2612195" y="2310932"/>
                <a:ext cx="1238849" cy="369332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Stephan </a:t>
                </a:r>
                <a:r>
                  <a:rPr kumimoji="0" lang="de-DE" sz="1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Robineau</a:t>
                </a:r>
                <a:r>
                  <a:rPr kumimoji="0" lang="de-DE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 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EVP, Networks 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Business Division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D66A796-43FF-3DF2-9D60-C1E6ADB0AD9D}"/>
                </a:ext>
              </a:extLst>
            </p:cNvPr>
            <p:cNvGrpSpPr/>
            <p:nvPr/>
          </p:nvGrpSpPr>
          <p:grpSpPr>
            <a:xfrm>
              <a:off x="4183403" y="807710"/>
              <a:ext cx="1415660" cy="1872554"/>
              <a:chOff x="4256007" y="807710"/>
              <a:chExt cx="1415660" cy="1872554"/>
            </a:xfrm>
          </p:grpSpPr>
          <p:pic>
            <p:nvPicPr>
              <p:cNvPr id="10" name="Picture 9" descr="Nicolas Brunel headshot">
                <a:extLst>
                  <a:ext uri="{FF2B5EF4-FFF2-40B4-BE49-F238E27FC236}">
                    <a16:creationId xmlns:a16="http://schemas.microsoft.com/office/drawing/2014/main" id="{776E6CFA-9332-41B4-AFAF-09E9E1B04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256007" y="807710"/>
                <a:ext cx="1415660" cy="14156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19" name="Rectangle 20">
                <a:extLst>
                  <a:ext uri="{FF2B5EF4-FFF2-40B4-BE49-F238E27FC236}">
                    <a16:creationId xmlns:a16="http://schemas.microsoft.com/office/drawing/2014/main" id="{5A8C6F06-A5C3-4A7A-9BA7-89E6E1BB2944}"/>
                  </a:ext>
                </a:extLst>
              </p:cNvPr>
              <p:cNvSpPr/>
              <p:nvPr/>
            </p:nvSpPr>
            <p:spPr>
              <a:xfrm>
                <a:off x="4413052" y="2310932"/>
                <a:ext cx="1101570" cy="369332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Nicolas Brunel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EVP, Communications</a:t>
                </a:r>
              </a:p>
              <a:p>
                <a:pPr marL="87097" marR="0" lvl="0" indent="-87097" algn="ctr" defTabSz="6857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Trebuchet MS"/>
                  </a:rPr>
                  <a:t>Business Division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E112D24-AE06-F226-19E1-6CAA3F991003}"/>
                </a:ext>
              </a:extLst>
            </p:cNvPr>
            <p:cNvGrpSpPr/>
            <p:nvPr/>
          </p:nvGrpSpPr>
          <p:grpSpPr>
            <a:xfrm>
              <a:off x="5843017" y="807710"/>
              <a:ext cx="1420830" cy="1900946"/>
              <a:chOff x="5894490" y="807710"/>
              <a:chExt cx="1420830" cy="1900946"/>
            </a:xfrm>
          </p:grpSpPr>
          <p:pic>
            <p:nvPicPr>
              <p:cNvPr id="9" name="Picture 8" descr="Moussa Zaghdoud headshot">
                <a:extLst>
                  <a:ext uri="{FF2B5EF4-FFF2-40B4-BE49-F238E27FC236}">
                    <a16:creationId xmlns:a16="http://schemas.microsoft.com/office/drawing/2014/main" id="{1C90208F-1F68-4028-8B1F-E9B84AC0F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94490" y="807710"/>
                <a:ext cx="1420830" cy="142083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  <p:sp>
            <p:nvSpPr>
              <p:cNvPr id="20" name="Rettangolo 3">
                <a:extLst>
                  <a:ext uri="{FF2B5EF4-FFF2-40B4-BE49-F238E27FC236}">
                    <a16:creationId xmlns:a16="http://schemas.microsoft.com/office/drawing/2014/main" id="{AF2E5737-37EB-43F9-AA00-D2523A2236EA}"/>
                  </a:ext>
                </a:extLst>
              </p:cNvPr>
              <p:cNvSpPr/>
              <p:nvPr/>
            </p:nvSpPr>
            <p:spPr>
              <a:xfrm>
                <a:off x="5919105" y="2310932"/>
                <a:ext cx="1371600" cy="397724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Moussa </a:t>
                </a:r>
                <a:r>
                  <a:rPr kumimoji="0" lang="de-DE" sz="1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Zaghdoud</a:t>
                </a:r>
                <a:endParaRPr kumimoji="0" lang="de-DE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94949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  <a:p>
                <a:pPr marL="87097" marR="0" lvl="0" indent="-87097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EVP, Cloud Communications</a:t>
                </a:r>
              </a:p>
              <a:p>
                <a:pPr marL="87097" marR="0" lvl="0" indent="-87097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Business Division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94949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0474AF-F02A-DFD9-00D9-0B6D547DBC50}"/>
                </a:ext>
              </a:extLst>
            </p:cNvPr>
            <p:cNvGrpSpPr/>
            <p:nvPr/>
          </p:nvGrpSpPr>
          <p:grpSpPr>
            <a:xfrm>
              <a:off x="7507801" y="805067"/>
              <a:ext cx="1492829" cy="1903589"/>
              <a:chOff x="7507801" y="805067"/>
              <a:chExt cx="1492829" cy="1903589"/>
            </a:xfrm>
          </p:grpSpPr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4C85043E-16DA-A77D-4DB7-58C5CC70642F}"/>
                  </a:ext>
                </a:extLst>
              </p:cNvPr>
              <p:cNvSpPr/>
              <p:nvPr/>
            </p:nvSpPr>
            <p:spPr>
              <a:xfrm>
                <a:off x="7507801" y="2310932"/>
                <a:ext cx="1492829" cy="397724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87097" marR="0" lvl="0" indent="-87097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Sandrine El </a:t>
                </a:r>
                <a:r>
                  <a:rPr kumimoji="0" lang="de-DE" sz="1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49494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Khodry</a:t>
                </a:r>
                <a:endParaRPr kumimoji="0" lang="de-DE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94949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  <a:p>
                <a:pPr marL="87097" marR="0" lvl="0" indent="-87097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Tx/>
                  <a:buFontTx/>
                  <a:buNone/>
                  <a:tabLst/>
                  <a:defRPr/>
                </a:pPr>
                <a:r>
                  <a:rPr lang="en-CA" sz="800" b="0" i="0" dirty="0">
                    <a:effectLst/>
                    <a:latin typeface="Trebuchet MS" panose="020B0703020202090204" pitchFamily="34" charset="0"/>
                  </a:rPr>
                  <a:t>EVP, Global Sales</a:t>
                </a:r>
                <a:br>
                  <a:rPr lang="en-CA" sz="800" b="0" i="0" dirty="0">
                    <a:effectLst/>
                    <a:latin typeface="Trebuchet MS" panose="020B0703020202090204" pitchFamily="34" charset="0"/>
                  </a:rPr>
                </a:br>
                <a:r>
                  <a:rPr lang="en-CA" sz="800" b="0" i="0" dirty="0">
                    <a:effectLst/>
                    <a:latin typeface="Trebuchet MS" panose="020B0703020202090204" pitchFamily="34" charset="0"/>
                  </a:rPr>
                  <a:t>and Marketing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94949"/>
                  </a:solidFill>
                  <a:effectLst/>
                  <a:uLnTx/>
                  <a:uFillTx/>
                  <a:latin typeface="Trebuchet MS" panose="020B0703020202090204" pitchFamily="34" charset="0"/>
                </a:endParaRPr>
              </a:p>
            </p:txBody>
          </p:sp>
          <p:pic>
            <p:nvPicPr>
              <p:cNvPr id="8" name="Picture 7" descr="A person in a blue shirt&#10;&#10;Description automatically generated">
                <a:extLst>
                  <a:ext uri="{FF2B5EF4-FFF2-40B4-BE49-F238E27FC236}">
                    <a16:creationId xmlns:a16="http://schemas.microsoft.com/office/drawing/2014/main" id="{8F146A5A-960E-B8D9-70C9-95D8300DF6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l="14030" t="9176" r="7251" b="12105"/>
              <a:stretch/>
            </p:blipFill>
            <p:spPr>
              <a:xfrm>
                <a:off x="7543215" y="805067"/>
                <a:ext cx="1422000" cy="14220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15875">
                <a:solidFill>
                  <a:schemeClr val="accent1"/>
                </a:solidFill>
              </a:ln>
              <a:effectLst/>
            </p:spPr>
          </p:pic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CFBBE2F-B3A6-7221-3D0E-49C9D021A1B8}"/>
              </a:ext>
            </a:extLst>
          </p:cNvPr>
          <p:cNvSpPr txBox="1"/>
          <p:nvPr/>
        </p:nvSpPr>
        <p:spPr>
          <a:xfrm>
            <a:off x="6301409" y="-183874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05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24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37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LE-16:9-2019 ">
  <a:themeElements>
    <a:clrScheme name="ALE NOV 2024">
      <a:dk1>
        <a:srgbClr val="000000"/>
      </a:dk1>
      <a:lt1>
        <a:srgbClr val="FFFFFF"/>
      </a:lt1>
      <a:dk2>
        <a:srgbClr val="484848"/>
      </a:dk2>
      <a:lt2>
        <a:srgbClr val="FFFFFF"/>
      </a:lt2>
      <a:accent1>
        <a:srgbClr val="6B489D"/>
      </a:accent1>
      <a:accent2>
        <a:srgbClr val="0085C9"/>
      </a:accent2>
      <a:accent3>
        <a:srgbClr val="34B233"/>
      </a:accent3>
      <a:accent4>
        <a:srgbClr val="005E70"/>
      </a:accent4>
      <a:accent5>
        <a:srgbClr val="FF4500"/>
      </a:accent5>
      <a:accent6>
        <a:srgbClr val="A40033"/>
      </a:accent6>
      <a:hlink>
        <a:srgbClr val="008FC5"/>
      </a:hlink>
      <a:folHlink>
        <a:srgbClr val="604287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E70"/>
        </a:solidFill>
        <a:ln>
          <a:noFill/>
        </a:ln>
      </a:spPr>
      <a:bodyPr lIns="91440" rIns="0" anchor="t"/>
      <a:lstStyle>
        <a:defPPr marL="0" marR="0" indent="0" algn="l" defTabSz="6857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35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rebuchet MS" panose="020B0603020202020204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LE_DEF" id="{459034E3-B273-6E44-AF3E-098475828715}" vid="{9944A4F8-E1E3-C64B-8B61-048A4BC3E2E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4A9751D901847BE5519CBC398E7B5" ma:contentTypeVersion="18" ma:contentTypeDescription="Crée un document." ma:contentTypeScope="" ma:versionID="a38656900aa4e969924410b32ee88ded">
  <xsd:schema xmlns:xsd="http://www.w3.org/2001/XMLSchema" xmlns:xs="http://www.w3.org/2001/XMLSchema" xmlns:p="http://schemas.microsoft.com/office/2006/metadata/properties" xmlns:ns3="d05ff52d-9198-4924-8034-f16235d451e9" xmlns:ns4="7f3a75ca-8b94-4993-b10a-10c9bc3e553f" targetNamespace="http://schemas.microsoft.com/office/2006/metadata/properties" ma:root="true" ma:fieldsID="6dac4c957960912074eaed1385dbd3a0" ns3:_="" ns4:_="">
    <xsd:import namespace="d05ff52d-9198-4924-8034-f16235d451e9"/>
    <xsd:import namespace="7f3a75ca-8b94-4993-b10a-10c9bc3e553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5ff52d-9198-4924-8034-f16235d451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3a75ca-8b94-4993-b10a-10c9bc3e55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3a75ca-8b94-4993-b10a-10c9bc3e55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FF28EB-E24A-492E-AC1B-7F67642074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5ff52d-9198-4924-8034-f16235d451e9"/>
    <ds:schemaRef ds:uri="7f3a75ca-8b94-4993-b10a-10c9bc3e55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95CB49-83B0-4BA7-B5CA-3E42A71BF963}">
  <ds:schemaRefs>
    <ds:schemaRef ds:uri="http://purl.org/dc/terms/"/>
    <ds:schemaRef ds:uri="http://schemas.openxmlformats.org/package/2006/metadata/core-properties"/>
    <ds:schemaRef ds:uri="7f3a75ca-8b94-4993-b10a-10c9bc3e553f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d05ff52d-9198-4924-8034-f16235d451e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CD3323-BC3F-41E6-A885-384CCBEC18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ALE_DEF</Template>
  <TotalTime>0</TotalTime>
  <Words>1145</Words>
  <Application>Microsoft Office PowerPoint</Application>
  <PresentationFormat>Affichage à l'écran (16:9)</PresentationFormat>
  <Paragraphs>164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Montserrat Hairline</vt:lpstr>
      <vt:lpstr>System Font Regular</vt:lpstr>
      <vt:lpstr>Arial</vt:lpstr>
      <vt:lpstr>Open Sans</vt:lpstr>
      <vt:lpstr>Trebuchet MS</vt:lpstr>
      <vt:lpstr>Wingdings</vt:lpstr>
      <vt:lpstr>ALE-16:9-2019 </vt:lpstr>
      <vt:lpstr>Alcatel-Lucent Enterprise</vt:lpstr>
      <vt:lpstr>We are Alcatel-Lucent Enterprise</vt:lpstr>
      <vt:lpstr>Our Values Drive our Behavior</vt:lpstr>
      <vt:lpstr>We are Committed to Creating and Delivering Technology for a Sustainable Future </vt:lpstr>
      <vt:lpstr>We Develop and Deliver Products and Solutions  for Key Industries</vt:lpstr>
      <vt:lpstr>Our Most Comprehensive Communication Portfolio</vt:lpstr>
      <vt:lpstr>Our Networks Offer an Optimal User Experience</vt:lpstr>
      <vt:lpstr>Our Solutions are Secure and Compliant by Design</vt:lpstr>
      <vt:lpstr>We Support our Customers’ Business Goals </vt:lpstr>
      <vt:lpstr>We Provide Industry-tailored Services - 1</vt:lpstr>
      <vt:lpstr>We Provide Industry-tailored Services - 2 </vt:lpstr>
      <vt:lpstr>What Market Experts Say About Us </vt:lpstr>
      <vt:lpstr>We are Committed to Successful Partner Relationships</vt:lpstr>
      <vt:lpstr>Some of Our Customers</vt:lpstr>
      <vt:lpstr>We are Proud of Our Ongoing Journey</vt:lpstr>
      <vt:lpstr>Meet Our Executive Team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 Template</dc:title>
  <dc:subject/>
  <dc:creator>Pernigotti Paola</dc:creator>
  <cp:keywords/>
  <dc:description/>
  <cp:lastModifiedBy>Collins Maire</cp:lastModifiedBy>
  <cp:revision>364</cp:revision>
  <dcterms:created xsi:type="dcterms:W3CDTF">2019-05-14T10:16:52Z</dcterms:created>
  <dcterms:modified xsi:type="dcterms:W3CDTF">2025-06-10T16:58:28Z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0x0101000664A9751D901847BE5519CBC398E7B5</vt:lpwstr>
  </property>
</Properties>
</file>